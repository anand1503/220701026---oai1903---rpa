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3"/>
  </p:notesMasterIdLst>
  <p:handoutMasterIdLst>
    <p:handoutMasterId r:id="rId24"/>
  </p:handoutMasterIdLst>
  <p:sldIdLst>
    <p:sldId id="280" r:id="rId2"/>
    <p:sldId id="366" r:id="rId3"/>
    <p:sldId id="380" r:id="rId4"/>
    <p:sldId id="383" r:id="rId5"/>
    <p:sldId id="384" r:id="rId6"/>
    <p:sldId id="385" r:id="rId7"/>
    <p:sldId id="386" r:id="rId8"/>
    <p:sldId id="400" r:id="rId9"/>
    <p:sldId id="401" r:id="rId10"/>
    <p:sldId id="388" r:id="rId11"/>
    <p:sldId id="389" r:id="rId12"/>
    <p:sldId id="390" r:id="rId13"/>
    <p:sldId id="391" r:id="rId14"/>
    <p:sldId id="403" r:id="rId15"/>
    <p:sldId id="404" r:id="rId16"/>
    <p:sldId id="393" r:id="rId17"/>
    <p:sldId id="394" r:id="rId18"/>
    <p:sldId id="398" r:id="rId19"/>
    <p:sldId id="395" r:id="rId20"/>
    <p:sldId id="397" r:id="rId21"/>
    <p:sldId id="399"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88" autoAdjust="0"/>
    <p:restoredTop sz="94364" autoAdjust="0"/>
  </p:normalViewPr>
  <p:slideViewPr>
    <p:cSldViewPr>
      <p:cViewPr>
        <p:scale>
          <a:sx n="125" d="100"/>
          <a:sy n="125" d="100"/>
        </p:scale>
        <p:origin x="1338" y="-3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F7A3D7D-4DD0-4519-9573-665089B66871}" type="slidenum">
              <a:rPr lang="en-US" smtClean="0"/>
              <a:pPr/>
              <a:t>1</a:t>
            </a:fld>
            <a:endParaRPr lang="en-US"/>
          </a:p>
        </p:txBody>
      </p:sp>
    </p:spTree>
    <p:extLst>
      <p:ext uri="{BB962C8B-B14F-4D97-AF65-F5344CB8AC3E}">
        <p14:creationId xmlns:p14="http://schemas.microsoft.com/office/powerpoint/2010/main" val="24606587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C2C91-BF96-4EE1-BED4-E3C50A7F7C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73AE97-9111-CE90-7A73-7BDF10308C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1484D9-2E3C-C4D6-4182-89BE8D50BB1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4C0DC76-6EE1-0252-FBD8-1705BCE161C1}"/>
              </a:ext>
            </a:extLst>
          </p:cNvPr>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28518422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8F934-AA59-FB5F-FF85-BAF77E6973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61DBB-E153-EE15-B16A-638D5A6B6B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F1D1F0-6507-0AB1-F433-5264C092C5C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F5B8DB3-D897-2AA6-829F-9B1403C24DC4}"/>
              </a:ext>
            </a:extLst>
          </p:cNvPr>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1375751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163B7-2501-29D8-356A-65CF1CD782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9A018B-381E-C9D4-CCE0-282CFDBA7C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B55EC4-E679-E5BA-92C2-D4E8CAAD823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1F1DCA5-30ED-0075-18B7-9A315FBB03EA}"/>
              </a:ext>
            </a:extLst>
          </p:cNvPr>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22671356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4A71F-FD7C-8969-BC80-9651B9D9E8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9AD923-161E-736F-B689-514C6616EB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E0B951-EF83-67E1-6954-C61934F5530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9D9CD23-DAC4-F0E6-4332-AA9563385E5D}"/>
              </a:ext>
            </a:extLst>
          </p:cNvPr>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30572898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17</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18</a:t>
            </a:fld>
            <a:endParaRPr lang="en-US"/>
          </a:p>
        </p:txBody>
      </p:sp>
    </p:spTree>
    <p:extLst>
      <p:ext uri="{BB962C8B-B14F-4D97-AF65-F5344CB8AC3E}">
        <p14:creationId xmlns:p14="http://schemas.microsoft.com/office/powerpoint/2010/main" val="31746253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19</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20</a:t>
            </a:fld>
            <a:endParaRPr lang="en-US" dirty="0"/>
          </a:p>
        </p:txBody>
      </p:sp>
    </p:spTree>
    <p:extLst>
      <p:ext uri="{BB962C8B-B14F-4D97-AF65-F5344CB8AC3E}">
        <p14:creationId xmlns:p14="http://schemas.microsoft.com/office/powerpoint/2010/main" val="27174021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21</a:t>
            </a:fld>
            <a:endParaRPr lang="en-US" dirty="0"/>
          </a:p>
        </p:txBody>
      </p:sp>
    </p:spTree>
    <p:extLst>
      <p:ext uri="{BB962C8B-B14F-4D97-AF65-F5344CB8AC3E}">
        <p14:creationId xmlns:p14="http://schemas.microsoft.com/office/powerpoint/2010/main" val="32076749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hyperlink" Target="https://plantuml.com/" TargetMode="External"/><Relationship Id="rId5" Type="http://schemas.openxmlformats.org/officeDocument/2006/relationships/hyperlink" Target="https://www.microsoft.com/" TargetMode="External"/><Relationship Id="rId4" Type="http://schemas.openxmlformats.org/officeDocument/2006/relationships/hyperlink" Target="https://www.uipath.com/"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986564"/>
            <a:ext cx="9158748" cy="5764533"/>
            <a:chOff x="-14748" y="986564"/>
            <a:chExt cx="9158748" cy="5764533"/>
          </a:xfrm>
        </p:grpSpPr>
        <p:sp>
          <p:nvSpPr>
            <p:cNvPr id="22" name="TextBox 21"/>
            <p:cNvSpPr txBox="1"/>
            <p:nvPr/>
          </p:nvSpPr>
          <p:spPr>
            <a:xfrm>
              <a:off x="177781" y="4812105"/>
              <a:ext cx="5743977" cy="1938992"/>
            </a:xfrm>
            <a:prstGeom prst="rect">
              <a:avLst/>
            </a:prstGeom>
            <a:noFill/>
          </p:spPr>
          <p:txBody>
            <a:bodyPr wrap="square" rtlCol="0">
              <a:spAutoFit/>
            </a:bodyPr>
            <a:lstStyle/>
            <a:p>
              <a:r>
                <a:rPr lang="en-US" sz="2000" b="1" dirty="0">
                  <a:latin typeface="Montserrat" pitchFamily="2" charset="0"/>
                </a:rPr>
                <a:t>Your Register No. - 2116220701026</a:t>
              </a:r>
            </a:p>
            <a:p>
              <a:r>
                <a:rPr lang="en-US" sz="2000" b="1" dirty="0">
                  <a:latin typeface="Montserrat" pitchFamily="2" charset="0"/>
                </a:rPr>
                <a:t>Name – Anand S</a:t>
              </a:r>
            </a:p>
            <a:p>
              <a:r>
                <a:rPr lang="en-US" sz="2000" b="1" dirty="0">
                  <a:latin typeface="Montserrat" pitchFamily="2" charset="0"/>
                </a:rPr>
                <a:t>Guide Name – Mrs. J. Jinu Sophia, Assistant Professor (SG)</a:t>
              </a:r>
            </a:p>
            <a:p>
              <a:r>
                <a:rPr lang="en-US" sz="2000" b="1" dirty="0">
                  <a:latin typeface="Montserrat" pitchFamily="2" charset="0"/>
                </a:rPr>
                <a:t>Designation and Department – B.E, Computer Science and Engineering</a:t>
              </a:r>
            </a:p>
          </p:txBody>
        </p:sp>
        <p:grpSp>
          <p:nvGrpSpPr>
            <p:cNvPr id="43" name="Group 42"/>
            <p:cNvGrpSpPr/>
            <p:nvPr/>
          </p:nvGrpSpPr>
          <p:grpSpPr>
            <a:xfrm>
              <a:off x="-14748" y="986564"/>
              <a:ext cx="9158748" cy="3628907"/>
              <a:chOff x="-14748" y="986564"/>
              <a:chExt cx="9158748" cy="3628907"/>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138075" y="2307365"/>
                <a:ext cx="4188156" cy="1754326"/>
              </a:xfrm>
              <a:prstGeom prst="rect">
                <a:avLst/>
              </a:prstGeom>
              <a:noFill/>
            </p:spPr>
            <p:txBody>
              <a:bodyPr wrap="square" rtlCol="0">
                <a:spAutoFit/>
              </a:bodyPr>
              <a:lstStyle/>
              <a:p>
                <a:r>
                  <a:rPr lang="en-US" sz="3600" b="1" dirty="0">
                    <a:solidFill>
                      <a:schemeClr val="bg1"/>
                    </a:solidFill>
                    <a:latin typeface="Helvetica" pitchFamily="2" charset="0"/>
                    <a:ea typeface="Open Sans Bold" panose="020B0806030504020204" pitchFamily="34" charset="0"/>
                    <a:cs typeface="Open Sans Bold" panose="020B0806030504020204" pitchFamily="34" charset="0"/>
                  </a:rPr>
                  <a:t>AUTOMATIC </a:t>
                </a:r>
                <a:br>
                  <a:rPr lang="en-US" sz="3600" b="1" dirty="0">
                    <a:solidFill>
                      <a:schemeClr val="bg1"/>
                    </a:solidFill>
                    <a:latin typeface="Helvetica" pitchFamily="2" charset="0"/>
                    <a:ea typeface="Open Sans Bold" panose="020B0806030504020204" pitchFamily="34" charset="0"/>
                    <a:cs typeface="Open Sans Bold" panose="020B0806030504020204" pitchFamily="34" charset="0"/>
                  </a:rPr>
                </a:br>
                <a:r>
                  <a:rPr lang="en-US" sz="3600" b="1" dirty="0">
                    <a:solidFill>
                      <a:schemeClr val="bg1"/>
                    </a:solidFill>
                    <a:latin typeface="Helvetica" pitchFamily="2" charset="0"/>
                    <a:ea typeface="Open Sans Bold" panose="020B0806030504020204" pitchFamily="34" charset="0"/>
                    <a:cs typeface="Open Sans Bold" panose="020B0806030504020204" pitchFamily="34" charset="0"/>
                  </a:rPr>
                  <a:t>E-CERTIFICATE </a:t>
                </a:r>
                <a:br>
                  <a:rPr lang="en-US" sz="3600" b="1" dirty="0">
                    <a:solidFill>
                      <a:schemeClr val="bg1"/>
                    </a:solidFill>
                    <a:latin typeface="Helvetica" pitchFamily="2" charset="0"/>
                    <a:ea typeface="Open Sans Bold" panose="020B0806030504020204" pitchFamily="34" charset="0"/>
                    <a:cs typeface="Open Sans Bold" panose="020B0806030504020204" pitchFamily="34" charset="0"/>
                  </a:rPr>
                </a:br>
                <a:r>
                  <a:rPr lang="en-US" sz="3600" b="1" dirty="0">
                    <a:solidFill>
                      <a:schemeClr val="bg1"/>
                    </a:solidFill>
                    <a:latin typeface="Helvetica" pitchFamily="2" charset="0"/>
                    <a:ea typeface="Open Sans Bold" panose="020B0806030504020204" pitchFamily="34" charset="0"/>
                    <a:cs typeface="Open Sans Bold" panose="020B0806030504020204" pitchFamily="34" charset="0"/>
                  </a:rPr>
                  <a:t>GENERATOR BOT</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84268" y="481616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latin typeface="Helvetica" pitchFamily="2" charset="0"/>
              </a:rPr>
              <a:t>Abstract</a:t>
            </a:r>
          </a:p>
        </p:txBody>
      </p:sp>
      <p:sp>
        <p:nvSpPr>
          <p:cNvPr id="3" name="Content Placeholder 2"/>
          <p:cNvSpPr>
            <a:spLocks noGrp="1"/>
          </p:cNvSpPr>
          <p:nvPr>
            <p:ph idx="1"/>
          </p:nvPr>
        </p:nvSpPr>
        <p:spPr>
          <a:xfrm>
            <a:off x="190500" y="1520788"/>
            <a:ext cx="8763000" cy="3986572"/>
          </a:xfrm>
        </p:spPr>
        <p:txBody>
          <a:bodyPr>
            <a:normAutofit/>
          </a:bodyPr>
          <a:lstStyle/>
          <a:p>
            <a:pPr marL="0" indent="0" algn="just">
              <a:buNone/>
            </a:pPr>
            <a:r>
              <a:rPr lang="en-US" sz="2000" dirty="0">
                <a:latin typeface="Montserrat" pitchFamily="2" charset="0"/>
              </a:rPr>
              <a:t>The Automated E-Certificate Generation Bot leverages UiPath RPA to streamline and simplify the creation of personalized certificates. By integrating Excel for data sourcing and PowerPoint for template-based customization, the bot ensures efficiency, accuracy, and scalability. It automates data extraction, template preparation, and certificate generation, replacing manual processes prone to errors. This solution is ideal for academic and corporate events, offering uniformity and rapid processing for large-scale requirements. Future enhancements like AI-based design suggestions and cloud integration can further optimize and modernize the process.</a:t>
            </a:r>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Helvetica" pitchFamily="2" charset="0"/>
              </a:rPr>
              <a:t>Need for the Proposed System</a:t>
            </a:r>
            <a:endParaRPr lang="en-IN" dirty="0">
              <a:latin typeface="Helvetica" pitchFamily="2" charset="0"/>
            </a:endParaRPr>
          </a:p>
        </p:txBody>
      </p:sp>
      <p:sp>
        <p:nvSpPr>
          <p:cNvPr id="4" name="Rectangle 1">
            <a:extLst>
              <a:ext uri="{FF2B5EF4-FFF2-40B4-BE49-F238E27FC236}">
                <a16:creationId xmlns:a16="http://schemas.microsoft.com/office/drawing/2014/main" id="{F4C4F0A6-1A4D-B68F-78CA-9F6132B9C671}"/>
              </a:ext>
            </a:extLst>
          </p:cNvPr>
          <p:cNvSpPr>
            <a:spLocks noChangeArrowheads="1"/>
          </p:cNvSpPr>
          <p:nvPr/>
        </p:nvSpPr>
        <p:spPr bwMode="auto">
          <a:xfrm>
            <a:off x="190500" y="1156685"/>
            <a:ext cx="8531932"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ontserrat" pitchFamily="2" charset="0"/>
              </a:rPr>
              <a:t>Elimination of Manual Effort</a:t>
            </a:r>
            <a:r>
              <a:rPr kumimoji="0" lang="en-US" altLang="en-US" sz="1600" b="0" i="0" u="none" strike="noStrike" cap="none" normalizeH="0" baseline="0" dirty="0">
                <a:ln>
                  <a:noFill/>
                </a:ln>
                <a:solidFill>
                  <a:schemeClr val="tx1"/>
                </a:solidFill>
                <a:effectLst/>
                <a:latin typeface="Montserrat" pitchFamily="2" charset="0"/>
              </a:rPr>
              <a:t>: Traditional certificate generation involves repetitive tasks that are time-consuming and prone to human errors. Automation significantly reduces manual intervention.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ontserrat" pitchFamily="2" charset="0"/>
              </a:rPr>
              <a:t>Efficiency in Large-Scale Operations</a:t>
            </a:r>
            <a:r>
              <a:rPr kumimoji="0" lang="en-US" altLang="en-US" sz="1600" b="0" i="0" u="none" strike="noStrike" cap="none" normalizeH="0" baseline="0" dirty="0">
                <a:ln>
                  <a:noFill/>
                </a:ln>
                <a:solidFill>
                  <a:schemeClr val="tx1"/>
                </a:solidFill>
                <a:effectLst/>
                <a:latin typeface="Montserrat" pitchFamily="2" charset="0"/>
              </a:rPr>
              <a:t>: Handling bulk certificate creation for events or programs is challenging manually. The proposed system ensures rapid and seamless processing of large datasets.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ontserrat" pitchFamily="2" charset="0"/>
              </a:rPr>
              <a:t>Accuracy and Consistency</a:t>
            </a:r>
            <a:r>
              <a:rPr kumimoji="0" lang="en-US" altLang="en-US" sz="1600" b="0" i="0" u="none" strike="noStrike" cap="none" normalizeH="0" baseline="0" dirty="0">
                <a:ln>
                  <a:noFill/>
                </a:ln>
                <a:solidFill>
                  <a:schemeClr val="tx1"/>
                </a:solidFill>
                <a:effectLst/>
                <a:latin typeface="Montserrat" pitchFamily="2" charset="0"/>
              </a:rPr>
              <a:t>: Automated processes ensure uniformity in formatting and prevent errors in recipient details, enhancing professionalism.</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ontserrat" pitchFamily="2" charset="0"/>
              </a:rPr>
              <a:t>Scalability</a:t>
            </a:r>
            <a:r>
              <a:rPr kumimoji="0" lang="en-US" altLang="en-US" sz="1600" b="0" i="0" u="none" strike="noStrike" cap="none" normalizeH="0" baseline="0" dirty="0">
                <a:ln>
                  <a:noFill/>
                </a:ln>
                <a:solidFill>
                  <a:schemeClr val="tx1"/>
                </a:solidFill>
                <a:effectLst/>
                <a:latin typeface="Montserrat" pitchFamily="2" charset="0"/>
              </a:rPr>
              <a:t>: As event sizes grow, the system can easily scale to manage increasing volumes without compromising quality or speed.</a:t>
            </a:r>
            <a:endParaRPr lang="en-US" altLang="en-US" sz="1600" dirty="0">
              <a:latin typeface="Montserrat" pitchFamily="2"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ontserrat" pitchFamily="2" charset="0"/>
              </a:rPr>
              <a:t>Cost-Effectiveness</a:t>
            </a:r>
            <a:r>
              <a:rPr kumimoji="0" lang="en-US" altLang="en-US" sz="1600" b="0" i="0" u="none" strike="noStrike" cap="none" normalizeH="0" baseline="0" dirty="0">
                <a:ln>
                  <a:noFill/>
                </a:ln>
                <a:solidFill>
                  <a:schemeClr val="tx1"/>
                </a:solidFill>
                <a:effectLst/>
                <a:latin typeface="Montserrat" pitchFamily="2" charset="0"/>
              </a:rPr>
              <a:t>: Reduces labor hours and operational costs by automating repetitive tasks.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ontserrat" pitchFamily="2" charset="0"/>
              </a:rPr>
              <a:t>Future-Proofing</a:t>
            </a:r>
            <a:r>
              <a:rPr kumimoji="0" lang="en-US" altLang="en-US" sz="1600" b="0" i="0" u="none" strike="noStrike" cap="none" normalizeH="0" baseline="0" dirty="0">
                <a:ln>
                  <a:noFill/>
                </a:ln>
                <a:solidFill>
                  <a:schemeClr val="tx1"/>
                </a:solidFill>
                <a:effectLst/>
                <a:latin typeface="Montserrat" pitchFamily="2" charset="0"/>
              </a:rPr>
              <a:t>: The system supports integration with AI, databases, and cloud storage, ensuring adaptability to future technological advancements.</a:t>
            </a:r>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Helvetica" pitchFamily="2" charset="0"/>
              </a:rPr>
              <a:t>Advantages of the Proposed System</a:t>
            </a:r>
            <a:endParaRPr lang="en-IN" dirty="0">
              <a:latin typeface="Helvetica" pitchFamily="2" charset="0"/>
            </a:endParaRPr>
          </a:p>
        </p:txBody>
      </p:sp>
      <p:sp>
        <p:nvSpPr>
          <p:cNvPr id="4" name="Rectangle 1">
            <a:extLst>
              <a:ext uri="{FF2B5EF4-FFF2-40B4-BE49-F238E27FC236}">
                <a16:creationId xmlns:a16="http://schemas.microsoft.com/office/drawing/2014/main" id="{966C5966-3963-8684-9347-FF7A22B4A56D}"/>
              </a:ext>
            </a:extLst>
          </p:cNvPr>
          <p:cNvSpPr>
            <a:spLocks noChangeArrowheads="1"/>
          </p:cNvSpPr>
          <p:nvPr/>
        </p:nvSpPr>
        <p:spPr bwMode="auto">
          <a:xfrm>
            <a:off x="359532" y="1014412"/>
            <a:ext cx="8593968"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Montserrat" pitchFamily="2" charset="0"/>
              </a:rPr>
              <a:t>Speed and Efficiency</a:t>
            </a:r>
            <a:r>
              <a:rPr kumimoji="0" lang="en-US" altLang="en-US" sz="1400" b="0" i="0" u="none" strike="noStrike" cap="none" normalizeH="0" baseline="0" dirty="0">
                <a:ln>
                  <a:noFill/>
                </a:ln>
                <a:solidFill>
                  <a:schemeClr val="tx1"/>
                </a:solidFill>
                <a:effectLst/>
                <a:latin typeface="Montserrat" pitchFamily="2" charset="0"/>
              </a:rPr>
              <a:t>: Automates certificate creation, enabling rapid processing of large volumes compared to manual efforts.</a:t>
            </a:r>
          </a:p>
          <a:p>
            <a:pPr marL="0" marR="0" lvl="0" indent="0"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Montserrat" pitchFamily="2"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Montserrat" pitchFamily="2" charset="0"/>
              </a:rPr>
              <a:t>Accuracy</a:t>
            </a:r>
            <a:r>
              <a:rPr kumimoji="0" lang="en-US" altLang="en-US" sz="1400" b="0" i="0" u="none" strike="noStrike" cap="none" normalizeH="0" baseline="0" dirty="0">
                <a:ln>
                  <a:noFill/>
                </a:ln>
                <a:solidFill>
                  <a:schemeClr val="tx1"/>
                </a:solidFill>
                <a:effectLst/>
                <a:latin typeface="Montserrat" pitchFamily="2" charset="0"/>
              </a:rPr>
              <a:t>: Eliminates human errors in data entry and formatting, ensuring high-quality output.</a:t>
            </a:r>
          </a:p>
          <a:p>
            <a:pPr marL="0" marR="0" lvl="0" indent="0"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Montserrat" pitchFamily="2"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Montserrat" pitchFamily="2" charset="0"/>
              </a:rPr>
              <a:t>Consistency</a:t>
            </a:r>
            <a:r>
              <a:rPr kumimoji="0" lang="en-US" altLang="en-US" sz="1400" b="0" i="0" u="none" strike="noStrike" cap="none" normalizeH="0" baseline="0" dirty="0">
                <a:ln>
                  <a:noFill/>
                </a:ln>
                <a:solidFill>
                  <a:schemeClr val="tx1"/>
                </a:solidFill>
                <a:effectLst/>
                <a:latin typeface="Montserrat" pitchFamily="2" charset="0"/>
              </a:rPr>
              <a:t>: Maintains uniform design and formatting across all certificates, enhancing professionalism.</a:t>
            </a:r>
          </a:p>
          <a:p>
            <a:pPr marL="0" marR="0" lvl="0" indent="0"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Montserrat" pitchFamily="2"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Montserrat" pitchFamily="2" charset="0"/>
              </a:rPr>
              <a:t>Scalability</a:t>
            </a:r>
            <a:r>
              <a:rPr kumimoji="0" lang="en-US" altLang="en-US" sz="1400" b="0" i="0" u="none" strike="noStrike" cap="none" normalizeH="0" baseline="0" dirty="0">
                <a:ln>
                  <a:noFill/>
                </a:ln>
                <a:solidFill>
                  <a:schemeClr val="tx1"/>
                </a:solidFill>
                <a:effectLst/>
                <a:latin typeface="Montserrat" pitchFamily="2" charset="0"/>
              </a:rPr>
              <a:t>: Easily handles increasing workloads, making it suitable for events of any size.</a:t>
            </a:r>
          </a:p>
          <a:p>
            <a:pPr marL="0" marR="0" lvl="0" indent="0"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Montserrat" pitchFamily="2"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Montserrat" pitchFamily="2" charset="0"/>
              </a:rPr>
              <a:t>Cost Savings</a:t>
            </a:r>
            <a:r>
              <a:rPr kumimoji="0" lang="en-US" altLang="en-US" sz="1400" b="0" i="0" u="none" strike="noStrike" cap="none" normalizeH="0" baseline="0" dirty="0">
                <a:ln>
                  <a:noFill/>
                </a:ln>
                <a:solidFill>
                  <a:schemeClr val="tx1"/>
                </a:solidFill>
                <a:effectLst/>
                <a:latin typeface="Montserrat" pitchFamily="2" charset="0"/>
              </a:rPr>
              <a:t>: Reduces the need for manual labor, cutting operational costs and saving time.</a:t>
            </a:r>
          </a:p>
          <a:p>
            <a:pPr marL="0" marR="0" lvl="0" indent="0"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Montserrat" pitchFamily="2"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Montserrat" pitchFamily="2" charset="0"/>
              </a:rPr>
              <a:t>Ease of Integration</a:t>
            </a:r>
            <a:r>
              <a:rPr kumimoji="0" lang="en-US" altLang="en-US" sz="1400" b="0" i="0" u="none" strike="noStrike" cap="none" normalizeH="0" baseline="0" dirty="0">
                <a:ln>
                  <a:noFill/>
                </a:ln>
                <a:solidFill>
                  <a:schemeClr val="tx1"/>
                </a:solidFill>
                <a:effectLst/>
                <a:latin typeface="Montserrat" pitchFamily="2" charset="0"/>
              </a:rPr>
              <a:t>: Seamlessly integrates with Excel, PowerPoint, databases, and cloud platforms for smooth data handling and storage.</a:t>
            </a:r>
          </a:p>
          <a:p>
            <a:pPr marL="0" marR="0" lvl="0" indent="0"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Montserrat" pitchFamily="2"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Montserrat" pitchFamily="2" charset="0"/>
              </a:rPr>
              <a:t>Customizability</a:t>
            </a:r>
            <a:r>
              <a:rPr kumimoji="0" lang="en-US" altLang="en-US" sz="1400" b="0" i="0" u="none" strike="noStrike" cap="none" normalizeH="0" baseline="0" dirty="0">
                <a:ln>
                  <a:noFill/>
                </a:ln>
                <a:solidFill>
                  <a:schemeClr val="tx1"/>
                </a:solidFill>
                <a:effectLst/>
                <a:latin typeface="Montserrat" pitchFamily="2" charset="0"/>
              </a:rPr>
              <a:t>: Supports dynamic template use, allowing personalized certificates tailored to different needs.</a:t>
            </a:r>
          </a:p>
          <a:p>
            <a:pPr marL="0" marR="0" lvl="0" indent="0"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Montserrat" pitchFamily="2"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Montserrat" pitchFamily="2" charset="0"/>
              </a:rPr>
              <a:t>Environmentally Friendly</a:t>
            </a:r>
            <a:r>
              <a:rPr kumimoji="0" lang="en-US" altLang="en-US" sz="1400" b="0" i="0" u="none" strike="noStrike" cap="none" normalizeH="0" baseline="0" dirty="0">
                <a:ln>
                  <a:noFill/>
                </a:ln>
                <a:solidFill>
                  <a:schemeClr val="tx1"/>
                </a:solidFill>
                <a:effectLst/>
                <a:latin typeface="Montserrat" pitchFamily="2" charset="0"/>
              </a:rPr>
              <a:t>: Digital certificates reduce the need for paper-based certificates, promoting sustainability.</a:t>
            </a:r>
          </a:p>
          <a:p>
            <a:pPr marL="0" marR="0" lvl="0" indent="0"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Montserrat" pitchFamily="2"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Montserrat" pitchFamily="2" charset="0"/>
              </a:rPr>
              <a:t>Future-Ready</a:t>
            </a:r>
            <a:r>
              <a:rPr kumimoji="0" lang="en-US" altLang="en-US" sz="1400" b="0" i="0" u="none" strike="noStrike" cap="none" normalizeH="0" baseline="0" dirty="0">
                <a:ln>
                  <a:noFill/>
                </a:ln>
                <a:solidFill>
                  <a:schemeClr val="tx1"/>
                </a:solidFill>
                <a:effectLst/>
                <a:latin typeface="Montserrat" pitchFamily="2" charset="0"/>
              </a:rPr>
              <a:t>: Can incorporate AI and other advanced technologies for further automation and enhanced features.</a:t>
            </a:r>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Helvetica" pitchFamily="2" charset="0"/>
              </a:rPr>
              <a:t>Literature Survey</a:t>
            </a:r>
            <a:endParaRPr lang="en-IN" dirty="0">
              <a:latin typeface="Helvetica" pitchFamily="2" charset="0"/>
            </a:endParaRPr>
          </a:p>
        </p:txBody>
      </p:sp>
      <p:sp>
        <p:nvSpPr>
          <p:cNvPr id="4" name="Rectangle 1">
            <a:extLst>
              <a:ext uri="{FF2B5EF4-FFF2-40B4-BE49-F238E27FC236}">
                <a16:creationId xmlns:a16="http://schemas.microsoft.com/office/drawing/2014/main" id="{0B05FF2D-84E7-6974-DDE4-DDEAC92CFA54}"/>
              </a:ext>
            </a:extLst>
          </p:cNvPr>
          <p:cNvSpPr>
            <a:spLocks noChangeArrowheads="1"/>
          </p:cNvSpPr>
          <p:nvPr/>
        </p:nvSpPr>
        <p:spPr bwMode="auto">
          <a:xfrm>
            <a:off x="242956" y="868943"/>
            <a:ext cx="8658088"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latin typeface="Montserrat" pitchFamily="2" charset="0"/>
              </a:rPr>
              <a:t>Existing Systems</a:t>
            </a:r>
            <a:endParaRPr lang="en-US" dirty="0">
              <a:latin typeface="Montserrat" pitchFamily="2" charset="0"/>
            </a:endParaRPr>
          </a:p>
          <a:p>
            <a:pPr>
              <a:buFont typeface="Arial" panose="020B0604020202020204" pitchFamily="34" charset="0"/>
              <a:buChar char="•"/>
            </a:pPr>
            <a:r>
              <a:rPr lang="en-US" dirty="0">
                <a:latin typeface="Montserrat" pitchFamily="2" charset="0"/>
              </a:rPr>
              <a:t>Manual creation is time-consuming and error-prone for bulk tasks.</a:t>
            </a:r>
          </a:p>
          <a:p>
            <a:pPr>
              <a:buFont typeface="Arial" panose="020B0604020202020204" pitchFamily="34" charset="0"/>
              <a:buChar char="•"/>
            </a:pPr>
            <a:r>
              <a:rPr lang="en-US" dirty="0">
                <a:latin typeface="Montserrat" pitchFamily="2" charset="0"/>
              </a:rPr>
              <a:t>Custom software solutions lack flexibility and are costly for small-scale applications.</a:t>
            </a:r>
          </a:p>
          <a:p>
            <a:endParaRPr lang="en-US" dirty="0">
              <a:latin typeface="Montserrat" pitchFamily="2" charset="0"/>
            </a:endParaRPr>
          </a:p>
          <a:p>
            <a:r>
              <a:rPr lang="en-US" b="1" dirty="0">
                <a:latin typeface="Montserrat" pitchFamily="2" charset="0"/>
              </a:rPr>
              <a:t>Relevant Studies</a:t>
            </a:r>
            <a:endParaRPr lang="en-US" dirty="0">
              <a:latin typeface="Montserrat" pitchFamily="2" charset="0"/>
            </a:endParaRPr>
          </a:p>
          <a:p>
            <a:pPr>
              <a:buFont typeface="Arial" panose="020B0604020202020204" pitchFamily="34" charset="0"/>
              <a:buChar char="•"/>
            </a:pPr>
            <a:r>
              <a:rPr lang="en-US" dirty="0">
                <a:latin typeface="Montserrat" pitchFamily="2" charset="0"/>
              </a:rPr>
              <a:t>RPA reduces labor costs by 70% and improves delivery by 50%.</a:t>
            </a:r>
          </a:p>
          <a:p>
            <a:pPr>
              <a:buFont typeface="Arial" panose="020B0604020202020204" pitchFamily="34" charset="0"/>
              <a:buChar char="•"/>
            </a:pPr>
            <a:r>
              <a:rPr lang="en-US" dirty="0">
                <a:latin typeface="Montserrat" pitchFamily="2" charset="0"/>
              </a:rPr>
              <a:t>UiPath integrates with Excel and PowerPoint for efficient workflows.</a:t>
            </a:r>
          </a:p>
          <a:p>
            <a:endParaRPr lang="en-US" dirty="0">
              <a:latin typeface="Montserrat" pitchFamily="2" charset="0"/>
            </a:endParaRPr>
          </a:p>
          <a:p>
            <a:r>
              <a:rPr lang="en-US" b="1" dirty="0">
                <a:latin typeface="Montserrat" pitchFamily="2" charset="0"/>
              </a:rPr>
              <a:t>Technology Insights</a:t>
            </a:r>
            <a:endParaRPr lang="en-US" dirty="0">
              <a:latin typeface="Montserrat" pitchFamily="2" charset="0"/>
            </a:endParaRPr>
          </a:p>
          <a:p>
            <a:pPr>
              <a:buFont typeface="Arial" panose="020B0604020202020204" pitchFamily="34" charset="0"/>
              <a:buChar char="•"/>
            </a:pPr>
            <a:r>
              <a:rPr lang="en-US" dirty="0">
                <a:latin typeface="Montserrat" pitchFamily="2" charset="0"/>
              </a:rPr>
              <a:t>Enables dynamic placeholders and scalable, reusable templates.</a:t>
            </a:r>
          </a:p>
          <a:p>
            <a:endParaRPr lang="en-US" dirty="0">
              <a:latin typeface="Montserrat" pitchFamily="2" charset="0"/>
            </a:endParaRPr>
          </a:p>
          <a:p>
            <a:r>
              <a:rPr lang="en-US" b="1" dirty="0">
                <a:latin typeface="Montserrat" pitchFamily="2" charset="0"/>
              </a:rPr>
              <a:t>Gap Analysis</a:t>
            </a:r>
            <a:endParaRPr lang="en-US" dirty="0">
              <a:latin typeface="Montserrat" pitchFamily="2" charset="0"/>
            </a:endParaRPr>
          </a:p>
          <a:p>
            <a:pPr>
              <a:buFont typeface="Arial" panose="020B0604020202020204" pitchFamily="34" charset="0"/>
              <a:buChar char="•"/>
            </a:pPr>
            <a:r>
              <a:rPr lang="en-US" dirty="0">
                <a:latin typeface="Montserrat" pitchFamily="2" charset="0"/>
              </a:rPr>
              <a:t>Current systems are complex or lack dynamic capabilities, requiring a streamlined solution.</a:t>
            </a:r>
          </a:p>
          <a:p>
            <a:endParaRPr lang="en-US" dirty="0">
              <a:latin typeface="Montserrat" pitchFamily="2" charset="0"/>
            </a:endParaRPr>
          </a:p>
          <a:p>
            <a:r>
              <a:rPr lang="en-US" b="1" dirty="0">
                <a:latin typeface="Montserrat" pitchFamily="2" charset="0"/>
              </a:rPr>
              <a:t>Proposed Solution</a:t>
            </a:r>
            <a:endParaRPr lang="en-US" dirty="0">
              <a:latin typeface="Montserrat" pitchFamily="2" charset="0"/>
            </a:endParaRPr>
          </a:p>
          <a:p>
            <a:pPr>
              <a:buFont typeface="Arial" panose="020B0604020202020204" pitchFamily="34" charset="0"/>
              <a:buChar char="•"/>
            </a:pPr>
            <a:r>
              <a:rPr lang="en-US" dirty="0">
                <a:latin typeface="Montserrat" pitchFamily="2" charset="0"/>
              </a:rPr>
              <a:t>Combines UiPath RPA with Excel and PowerPoint for accuracy, scalability, and efficiency.</a:t>
            </a:r>
          </a:p>
        </p:txBody>
      </p:sp>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Helvetica" pitchFamily="2" charset="0"/>
              </a:rPr>
              <a:t>Main Objective</a:t>
            </a:r>
            <a:endParaRPr lang="en-IN" dirty="0">
              <a:latin typeface="Helvetica" pitchFamily="2" charset="0"/>
            </a:endParaRPr>
          </a:p>
        </p:txBody>
      </p:sp>
      <p:sp>
        <p:nvSpPr>
          <p:cNvPr id="3" name="Content Placeholder 2"/>
          <p:cNvSpPr>
            <a:spLocks noGrp="1"/>
          </p:cNvSpPr>
          <p:nvPr>
            <p:ph idx="1"/>
          </p:nvPr>
        </p:nvSpPr>
        <p:spPr>
          <a:xfrm>
            <a:off x="190500" y="1759750"/>
            <a:ext cx="8763000" cy="3338500"/>
          </a:xfrm>
        </p:spPr>
        <p:txBody>
          <a:bodyPr/>
          <a:lstStyle/>
          <a:p>
            <a:pPr marL="0" indent="0" algn="just">
              <a:buNone/>
            </a:pPr>
            <a:r>
              <a:rPr lang="en-US" dirty="0">
                <a:latin typeface="Montserrat" pitchFamily="2" charset="0"/>
              </a:rPr>
              <a:t>To develop an Automated E-Certificate Generation System using UiPath RPA that streamlines the process of creating personalized certificates by automating data extraction, template customization, and certificate generation. The system aims to enhance efficiency, accuracy, and scalability, making it suitable for handling bulk operations with minimal manual intervention.</a:t>
            </a:r>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Helvetica" pitchFamily="2" charset="0"/>
              </a:rPr>
              <a:t>Architecture</a:t>
            </a:r>
            <a:endParaRPr lang="en-IN" dirty="0">
              <a:latin typeface="Helvetica" pitchFamily="2" charset="0"/>
            </a:endParaRPr>
          </a:p>
        </p:txBody>
      </p:sp>
      <p:pic>
        <p:nvPicPr>
          <p:cNvPr id="4100" name="Picture 4">
            <a:extLst>
              <a:ext uri="{FF2B5EF4-FFF2-40B4-BE49-F238E27FC236}">
                <a16:creationId xmlns:a16="http://schemas.microsoft.com/office/drawing/2014/main" id="{18896277-2640-AB40-E497-5DA6FEF4F2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0551" y="1232756"/>
            <a:ext cx="4204710" cy="500395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9B0DA-8F3B-088C-797B-3E2E8DC2EF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A3FDA5-5AEE-74CB-1026-B49FFFF39FD2}"/>
              </a:ext>
            </a:extLst>
          </p:cNvPr>
          <p:cNvSpPr>
            <a:spLocks noGrp="1"/>
          </p:cNvSpPr>
          <p:nvPr>
            <p:ph type="title"/>
          </p:nvPr>
        </p:nvSpPr>
        <p:spPr/>
        <p:txBody>
          <a:bodyPr>
            <a:normAutofit/>
          </a:bodyPr>
          <a:lstStyle/>
          <a:p>
            <a:r>
              <a:rPr lang="en-US" dirty="0">
                <a:latin typeface="Helvetica" pitchFamily="2" charset="0"/>
              </a:rPr>
              <a:t>System Requirements</a:t>
            </a:r>
            <a:endParaRPr lang="en-IN" dirty="0">
              <a:latin typeface="Helvetica" pitchFamily="2" charset="0"/>
            </a:endParaRPr>
          </a:p>
        </p:txBody>
      </p:sp>
      <p:sp>
        <p:nvSpPr>
          <p:cNvPr id="3" name="Content Placeholder 2">
            <a:extLst>
              <a:ext uri="{FF2B5EF4-FFF2-40B4-BE49-F238E27FC236}">
                <a16:creationId xmlns:a16="http://schemas.microsoft.com/office/drawing/2014/main" id="{4F994316-F95A-D485-3587-984E1B59087F}"/>
              </a:ext>
            </a:extLst>
          </p:cNvPr>
          <p:cNvSpPr>
            <a:spLocks noGrp="1"/>
          </p:cNvSpPr>
          <p:nvPr>
            <p:ph idx="1"/>
          </p:nvPr>
        </p:nvSpPr>
        <p:spPr>
          <a:xfrm>
            <a:off x="190500" y="1412776"/>
            <a:ext cx="8763000" cy="4032448"/>
          </a:xfrm>
        </p:spPr>
        <p:txBody>
          <a:bodyPr>
            <a:normAutofit/>
          </a:bodyPr>
          <a:lstStyle/>
          <a:p>
            <a:pPr marL="0" indent="0">
              <a:buNone/>
            </a:pPr>
            <a:r>
              <a:rPr lang="en-US" sz="2000" b="1" dirty="0">
                <a:latin typeface="Montserrat" pitchFamily="2" charset="0"/>
              </a:rPr>
              <a:t>1. Hardware Requirements:</a:t>
            </a:r>
          </a:p>
          <a:p>
            <a:pPr marL="0" indent="0">
              <a:buNone/>
            </a:pPr>
            <a:r>
              <a:rPr lang="en-US" sz="2000" b="1" dirty="0">
                <a:latin typeface="Montserrat" pitchFamily="2" charset="0"/>
              </a:rPr>
              <a:t>	Processor:</a:t>
            </a:r>
            <a:r>
              <a:rPr lang="en-US" sz="2000" dirty="0">
                <a:latin typeface="Montserrat" pitchFamily="2" charset="0"/>
              </a:rPr>
              <a:t> Intel Core i3 or higher (recommended: 			i5 or above)</a:t>
            </a:r>
          </a:p>
          <a:p>
            <a:pPr marL="0" indent="0">
              <a:buNone/>
            </a:pPr>
            <a:r>
              <a:rPr lang="en-US" sz="2000" b="1" dirty="0">
                <a:latin typeface="Montserrat" pitchFamily="2" charset="0"/>
              </a:rPr>
              <a:t>	RAM:</a:t>
            </a:r>
            <a:r>
              <a:rPr lang="en-US" sz="2000" dirty="0">
                <a:latin typeface="Montserrat" pitchFamily="2" charset="0"/>
              </a:rPr>
              <a:t> Minimum 4 GB (recommended: 8 GB or 			higher for efficient processing)</a:t>
            </a:r>
          </a:p>
          <a:p>
            <a:pPr marL="0" indent="0">
              <a:buNone/>
            </a:pPr>
            <a:r>
              <a:rPr lang="en-US" sz="2000" b="1" dirty="0">
                <a:latin typeface="Montserrat" pitchFamily="2" charset="0"/>
              </a:rPr>
              <a:t>	Storage:</a:t>
            </a:r>
            <a:endParaRPr lang="en-US" sz="2000" dirty="0">
              <a:latin typeface="Montserrat" pitchFamily="2" charset="0"/>
            </a:endParaRPr>
          </a:p>
          <a:p>
            <a:pPr marL="457200" lvl="1" indent="0">
              <a:buNone/>
            </a:pPr>
            <a:r>
              <a:rPr lang="en-US" sz="1800" dirty="0">
                <a:latin typeface="Montserrat" pitchFamily="2" charset="0"/>
              </a:rPr>
              <a:t>		500 MB free disk space for the RPA tool installation.</a:t>
            </a:r>
          </a:p>
          <a:p>
            <a:pPr marL="457200" lvl="1" indent="0">
              <a:buNone/>
            </a:pPr>
            <a:r>
              <a:rPr lang="en-US" sz="1800" dirty="0">
                <a:latin typeface="Montserrat" pitchFamily="2" charset="0"/>
              </a:rPr>
              <a:t>		Additional space for storing Excel files, templates, 			and generated certificates (depending on volume).</a:t>
            </a:r>
          </a:p>
          <a:p>
            <a:pPr marL="457200" lvl="1" indent="0">
              <a:buNone/>
            </a:pPr>
            <a:r>
              <a:rPr lang="en-US" sz="1800" b="1" dirty="0">
                <a:latin typeface="Montserrat" pitchFamily="2" charset="0"/>
              </a:rPr>
              <a:t>	</a:t>
            </a:r>
            <a:r>
              <a:rPr lang="en-US" b="1" dirty="0">
                <a:latin typeface="Montserrat" pitchFamily="2" charset="0"/>
              </a:rPr>
              <a:t>Display</a:t>
            </a:r>
            <a:r>
              <a:rPr lang="en-US" sz="1800" b="1" dirty="0">
                <a:latin typeface="Montserrat" pitchFamily="2" charset="0"/>
              </a:rPr>
              <a:t>:</a:t>
            </a:r>
            <a:r>
              <a:rPr lang="en-US" sz="1800" dirty="0">
                <a:latin typeface="Montserrat" pitchFamily="2" charset="0"/>
              </a:rPr>
              <a:t> Minimum 1024x768 resolution.</a:t>
            </a:r>
          </a:p>
        </p:txBody>
      </p:sp>
    </p:spTree>
    <p:custDataLst>
      <p:tags r:id="rId1"/>
    </p:custDataLst>
    <p:extLst>
      <p:ext uri="{BB962C8B-B14F-4D97-AF65-F5344CB8AC3E}">
        <p14:creationId xmlns:p14="http://schemas.microsoft.com/office/powerpoint/2010/main" val="3592524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287F8-B0C6-B70C-09D0-D35A8B1E52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643EC-0066-4768-80ED-45AADD7CA866}"/>
              </a:ext>
            </a:extLst>
          </p:cNvPr>
          <p:cNvSpPr>
            <a:spLocks noGrp="1"/>
          </p:cNvSpPr>
          <p:nvPr>
            <p:ph type="title"/>
          </p:nvPr>
        </p:nvSpPr>
        <p:spPr/>
        <p:txBody>
          <a:bodyPr>
            <a:normAutofit/>
          </a:bodyPr>
          <a:lstStyle/>
          <a:p>
            <a:r>
              <a:rPr lang="en-US" dirty="0">
                <a:latin typeface="Helvetica" pitchFamily="2" charset="0"/>
              </a:rPr>
              <a:t>System Requirements</a:t>
            </a:r>
            <a:endParaRPr lang="en-IN" dirty="0">
              <a:latin typeface="Helvetica" pitchFamily="2" charset="0"/>
            </a:endParaRPr>
          </a:p>
        </p:txBody>
      </p:sp>
      <p:sp>
        <p:nvSpPr>
          <p:cNvPr id="3" name="Content Placeholder 2">
            <a:extLst>
              <a:ext uri="{FF2B5EF4-FFF2-40B4-BE49-F238E27FC236}">
                <a16:creationId xmlns:a16="http://schemas.microsoft.com/office/drawing/2014/main" id="{1310BD8A-32DD-4AE6-0647-14664280DA0C}"/>
              </a:ext>
            </a:extLst>
          </p:cNvPr>
          <p:cNvSpPr>
            <a:spLocks noGrp="1"/>
          </p:cNvSpPr>
          <p:nvPr>
            <p:ph idx="1"/>
          </p:nvPr>
        </p:nvSpPr>
        <p:spPr>
          <a:xfrm>
            <a:off x="190500" y="1412776"/>
            <a:ext cx="8763000" cy="4032448"/>
          </a:xfrm>
        </p:spPr>
        <p:txBody>
          <a:bodyPr>
            <a:normAutofit fontScale="70000" lnSpcReduction="20000"/>
          </a:bodyPr>
          <a:lstStyle/>
          <a:p>
            <a:pPr marL="0" indent="0">
              <a:buNone/>
            </a:pPr>
            <a:r>
              <a:rPr lang="en-US" b="1" dirty="0">
                <a:latin typeface="Montserrat" pitchFamily="2" charset="0"/>
              </a:rPr>
              <a:t>2. Software Requirements:</a:t>
            </a:r>
          </a:p>
          <a:p>
            <a:pPr marL="0" indent="0">
              <a:buNone/>
            </a:pPr>
            <a:r>
              <a:rPr lang="en-US" b="1" dirty="0">
                <a:latin typeface="Montserrat" pitchFamily="2" charset="0"/>
              </a:rPr>
              <a:t>	Operating System:</a:t>
            </a:r>
          </a:p>
          <a:p>
            <a:pPr marL="0" indent="0">
              <a:buNone/>
            </a:pPr>
            <a:r>
              <a:rPr lang="en-US" dirty="0">
                <a:latin typeface="Montserrat" pitchFamily="2" charset="0"/>
              </a:rPr>
              <a:t>		Windows 10 or above.</a:t>
            </a:r>
          </a:p>
          <a:p>
            <a:pPr marL="0" indent="0">
              <a:buNone/>
            </a:pPr>
            <a:r>
              <a:rPr lang="en-US" b="1" dirty="0">
                <a:latin typeface="Montserrat" pitchFamily="2" charset="0"/>
              </a:rPr>
              <a:t>	Development and Automation Tools:</a:t>
            </a:r>
          </a:p>
          <a:p>
            <a:pPr marL="0" indent="0">
              <a:buNone/>
            </a:pPr>
            <a:r>
              <a:rPr lang="en-US" b="1" dirty="0">
                <a:latin typeface="Montserrat" pitchFamily="2" charset="0"/>
              </a:rPr>
              <a:t>		UiPath Studio</a:t>
            </a:r>
            <a:r>
              <a:rPr lang="en-US" dirty="0">
                <a:latin typeface="Montserrat" pitchFamily="2" charset="0"/>
              </a:rPr>
              <a:t>:</a:t>
            </a:r>
          </a:p>
          <a:p>
            <a:pPr marL="457200" lvl="1" indent="0">
              <a:buNone/>
            </a:pPr>
            <a:r>
              <a:rPr lang="en-US" dirty="0">
                <a:latin typeface="Montserrat" pitchFamily="2" charset="0"/>
              </a:rPr>
              <a:t>			For creating and executing the automation script.</a:t>
            </a:r>
          </a:p>
          <a:p>
            <a:pPr marL="457200" lvl="1" indent="0">
              <a:buNone/>
            </a:pPr>
            <a:r>
              <a:rPr lang="en-US" dirty="0">
                <a:latin typeface="Montserrat" pitchFamily="2" charset="0"/>
              </a:rPr>
              <a:t>			License may vary (Community or Enterprise edition based on the 			organization).</a:t>
            </a:r>
          </a:p>
          <a:p>
            <a:pPr marL="0" indent="0">
              <a:buNone/>
            </a:pPr>
            <a:r>
              <a:rPr lang="en-US" b="1" dirty="0">
                <a:latin typeface="Montserrat" pitchFamily="2" charset="0"/>
              </a:rPr>
              <a:t>		Microsoft Office Suite:</a:t>
            </a:r>
            <a:endParaRPr lang="en-US" dirty="0">
              <a:latin typeface="Montserrat" pitchFamily="2" charset="0"/>
            </a:endParaRPr>
          </a:p>
          <a:p>
            <a:pPr marL="457200" lvl="1" indent="0">
              <a:buNone/>
            </a:pPr>
            <a:r>
              <a:rPr lang="en-US" dirty="0">
                <a:latin typeface="Montserrat" pitchFamily="2" charset="0"/>
              </a:rPr>
              <a:t>			Excel: For recipient data input and management.</a:t>
            </a:r>
          </a:p>
          <a:p>
            <a:pPr marL="457200" lvl="1" indent="0">
              <a:buNone/>
            </a:pPr>
            <a:r>
              <a:rPr lang="en-US" dirty="0">
                <a:latin typeface="Montserrat" pitchFamily="2" charset="0"/>
              </a:rPr>
              <a:t>			PowerPoint: For certificate template creation and editing.</a:t>
            </a:r>
          </a:p>
          <a:p>
            <a:pPr marL="0" indent="0">
              <a:buNone/>
            </a:pPr>
            <a:r>
              <a:rPr lang="en-US" b="1" dirty="0">
                <a:latin typeface="Montserrat" pitchFamily="2" charset="0"/>
              </a:rPr>
              <a:t>		PDF Viewer (optional):</a:t>
            </a:r>
            <a:endParaRPr lang="en-US" dirty="0">
              <a:latin typeface="Montserrat" pitchFamily="2" charset="0"/>
            </a:endParaRPr>
          </a:p>
          <a:p>
            <a:pPr marL="457200" lvl="1" indent="0">
              <a:buNone/>
            </a:pPr>
            <a:r>
              <a:rPr lang="en-US" dirty="0">
                <a:latin typeface="Montserrat" pitchFamily="2" charset="0"/>
              </a:rPr>
              <a:t>			To view and verify generated certificates if exported as PDF.</a:t>
            </a:r>
          </a:p>
        </p:txBody>
      </p:sp>
    </p:spTree>
    <p:custDataLst>
      <p:tags r:id="rId1"/>
    </p:custDataLst>
    <p:extLst>
      <p:ext uri="{BB962C8B-B14F-4D97-AF65-F5344CB8AC3E}">
        <p14:creationId xmlns:p14="http://schemas.microsoft.com/office/powerpoint/2010/main" val="3856176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Helvetica" pitchFamily="2" charset="0"/>
              </a:rPr>
              <a:t>Functional Description</a:t>
            </a:r>
            <a:endParaRPr lang="en-IN" dirty="0">
              <a:latin typeface="Helvetica" pitchFamily="2" charset="0"/>
            </a:endParaRPr>
          </a:p>
        </p:txBody>
      </p:sp>
      <p:sp>
        <p:nvSpPr>
          <p:cNvPr id="3" name="Content Placeholder 2"/>
          <p:cNvSpPr>
            <a:spLocks noGrp="1"/>
          </p:cNvSpPr>
          <p:nvPr>
            <p:ph idx="1"/>
          </p:nvPr>
        </p:nvSpPr>
        <p:spPr>
          <a:xfrm>
            <a:off x="190500" y="1147682"/>
            <a:ext cx="8763000" cy="4562636"/>
          </a:xfrm>
        </p:spPr>
        <p:txBody>
          <a:bodyPr>
            <a:normAutofit/>
          </a:bodyPr>
          <a:lstStyle/>
          <a:p>
            <a:pPr>
              <a:buFont typeface="+mj-lt"/>
              <a:buAutoNum type="arabicPeriod"/>
            </a:pPr>
            <a:r>
              <a:rPr lang="en-IN" sz="1600" b="1" dirty="0">
                <a:latin typeface="Montserrat" pitchFamily="2" charset="0"/>
              </a:rPr>
              <a:t>Input Handling:</a:t>
            </a:r>
            <a:endParaRPr lang="en-IN" sz="1600" dirty="0">
              <a:latin typeface="Montserrat" pitchFamily="2" charset="0"/>
            </a:endParaRPr>
          </a:p>
          <a:p>
            <a:pPr marL="742950" lvl="1" indent="-285750">
              <a:buFont typeface="+mj-lt"/>
              <a:buAutoNum type="arabicPeriod"/>
            </a:pPr>
            <a:r>
              <a:rPr lang="en-IN" sz="1400" dirty="0">
                <a:latin typeface="Montserrat" pitchFamily="2" charset="0"/>
              </a:rPr>
              <a:t>Reads recipient data from Excel.</a:t>
            </a:r>
          </a:p>
          <a:p>
            <a:pPr marL="742950" lvl="1" indent="-285750">
              <a:buFont typeface="+mj-lt"/>
              <a:buAutoNum type="arabicPeriod"/>
            </a:pPr>
            <a:r>
              <a:rPr lang="en-IN" sz="1400" dirty="0">
                <a:latin typeface="Montserrat" pitchFamily="2" charset="0"/>
              </a:rPr>
              <a:t>Uses a PowerPoint template with placeholders.</a:t>
            </a:r>
          </a:p>
          <a:p>
            <a:pPr>
              <a:buFont typeface="+mj-lt"/>
              <a:buAutoNum type="arabicPeriod"/>
            </a:pPr>
            <a:r>
              <a:rPr lang="en-IN" sz="1600" b="1" dirty="0">
                <a:latin typeface="Montserrat" pitchFamily="2" charset="0"/>
              </a:rPr>
              <a:t>Certificate Creation:</a:t>
            </a:r>
            <a:endParaRPr lang="en-IN" sz="1600" dirty="0">
              <a:latin typeface="Montserrat" pitchFamily="2" charset="0"/>
            </a:endParaRPr>
          </a:p>
          <a:p>
            <a:pPr marL="742950" lvl="1" indent="-285750">
              <a:buFont typeface="+mj-lt"/>
              <a:buAutoNum type="arabicPeriod"/>
            </a:pPr>
            <a:r>
              <a:rPr lang="en-IN" sz="1400" dirty="0">
                <a:latin typeface="Montserrat" pitchFamily="2" charset="0"/>
              </a:rPr>
              <a:t>Replaces placeholders with recipient details.</a:t>
            </a:r>
          </a:p>
          <a:p>
            <a:pPr marL="742950" lvl="1" indent="-285750">
              <a:buFont typeface="+mj-lt"/>
              <a:buAutoNum type="arabicPeriod"/>
            </a:pPr>
            <a:r>
              <a:rPr lang="en-IN" sz="1400" dirty="0">
                <a:latin typeface="Montserrat" pitchFamily="2" charset="0"/>
              </a:rPr>
              <a:t>Generates consistent certificates dynamically.</a:t>
            </a:r>
          </a:p>
          <a:p>
            <a:pPr>
              <a:buFont typeface="+mj-lt"/>
              <a:buAutoNum type="arabicPeriod"/>
            </a:pPr>
            <a:r>
              <a:rPr lang="en-IN" sz="1600" b="1" dirty="0">
                <a:latin typeface="Montserrat" pitchFamily="2" charset="0"/>
              </a:rPr>
              <a:t>Automation Process:</a:t>
            </a:r>
            <a:endParaRPr lang="en-IN" sz="1600" dirty="0">
              <a:latin typeface="Montserrat" pitchFamily="2" charset="0"/>
            </a:endParaRPr>
          </a:p>
          <a:p>
            <a:pPr marL="742950" lvl="1" indent="-285750">
              <a:buFont typeface="+mj-lt"/>
              <a:buAutoNum type="arabicPeriod"/>
            </a:pPr>
            <a:r>
              <a:rPr lang="en-IN" sz="1400" dirty="0">
                <a:latin typeface="Montserrat" pitchFamily="2" charset="0"/>
              </a:rPr>
              <a:t>Iterates through Excel rows.</a:t>
            </a:r>
          </a:p>
          <a:p>
            <a:pPr marL="742950" lvl="1" indent="-285750">
              <a:buFont typeface="+mj-lt"/>
              <a:buAutoNum type="arabicPeriod"/>
            </a:pPr>
            <a:r>
              <a:rPr lang="en-IN" sz="1400" dirty="0">
                <a:latin typeface="Montserrat" pitchFamily="2" charset="0"/>
              </a:rPr>
              <a:t>Ensures accuracy with error handling.</a:t>
            </a:r>
          </a:p>
          <a:p>
            <a:pPr>
              <a:buFont typeface="+mj-lt"/>
              <a:buAutoNum type="arabicPeriod"/>
            </a:pPr>
            <a:r>
              <a:rPr lang="en-IN" sz="1600" b="1" dirty="0">
                <a:latin typeface="Montserrat" pitchFamily="2" charset="0"/>
              </a:rPr>
              <a:t>Output Storage:</a:t>
            </a:r>
            <a:endParaRPr lang="en-IN" sz="1600" dirty="0">
              <a:latin typeface="Montserrat" pitchFamily="2" charset="0"/>
            </a:endParaRPr>
          </a:p>
          <a:p>
            <a:pPr marL="742950" lvl="1" indent="-285750">
              <a:buFont typeface="+mj-lt"/>
              <a:buAutoNum type="arabicPeriod"/>
            </a:pPr>
            <a:r>
              <a:rPr lang="en-IN" sz="1400" dirty="0">
                <a:latin typeface="Montserrat" pitchFamily="2" charset="0"/>
              </a:rPr>
              <a:t>Saves certificates with unique filenames.</a:t>
            </a:r>
          </a:p>
          <a:p>
            <a:pPr marL="742950" lvl="1" indent="-285750">
              <a:buFont typeface="+mj-lt"/>
              <a:buAutoNum type="arabicPeriod"/>
            </a:pPr>
            <a:r>
              <a:rPr lang="en-IN" sz="1400" dirty="0">
                <a:latin typeface="Montserrat" pitchFamily="2" charset="0"/>
              </a:rPr>
              <a:t>Organizes files for easy access.</a:t>
            </a:r>
          </a:p>
          <a:p>
            <a:pPr>
              <a:buFont typeface="+mj-lt"/>
              <a:buAutoNum type="arabicPeriod"/>
            </a:pPr>
            <a:r>
              <a:rPr lang="en-IN" sz="1600" b="1" dirty="0">
                <a:latin typeface="Montserrat" pitchFamily="2" charset="0"/>
              </a:rPr>
              <a:t>Scalability:</a:t>
            </a:r>
            <a:endParaRPr lang="en-IN" sz="1600" dirty="0">
              <a:latin typeface="Montserrat" pitchFamily="2" charset="0"/>
            </a:endParaRPr>
          </a:p>
          <a:p>
            <a:pPr marL="742950" lvl="1" indent="-285750">
              <a:buFont typeface="+mj-lt"/>
              <a:buAutoNum type="arabicPeriod"/>
            </a:pPr>
            <a:r>
              <a:rPr lang="en-IN" sz="1400" dirty="0">
                <a:latin typeface="Montserrat" pitchFamily="2" charset="0"/>
              </a:rPr>
              <a:t>Processes large datasets efficiently.</a:t>
            </a:r>
          </a:p>
          <a:p>
            <a:pPr marL="0" indent="0">
              <a:buNone/>
            </a:pPr>
            <a:r>
              <a:rPr lang="en-IN" sz="1600" b="1" dirty="0">
                <a:latin typeface="Montserrat" pitchFamily="2" charset="0"/>
              </a:rPr>
              <a:t>Result:</a:t>
            </a:r>
            <a:r>
              <a:rPr lang="en-IN" sz="1600" dirty="0">
                <a:latin typeface="Montserrat" pitchFamily="2" charset="0"/>
              </a:rPr>
              <a:t> Rapid, error-free, and scalable e-certificate generation.</a:t>
            </a:r>
          </a:p>
        </p:txBody>
      </p:sp>
    </p:spTree>
    <p:custDataLst>
      <p:tags r:id="rId1"/>
    </p:custDataLst>
    <p:extLst>
      <p:ext uri="{BB962C8B-B14F-4D97-AF65-F5344CB8AC3E}">
        <p14:creationId xmlns:p14="http://schemas.microsoft.com/office/powerpoint/2010/main" val="784506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Helvetica" pitchFamily="2" charset="0"/>
              </a:rPr>
              <a:t>Table Design</a:t>
            </a:r>
            <a:endParaRPr lang="en-IN" dirty="0">
              <a:latin typeface="Helvetica" pitchFamily="2" charset="0"/>
            </a:endParaRPr>
          </a:p>
        </p:txBody>
      </p:sp>
      <p:pic>
        <p:nvPicPr>
          <p:cNvPr id="4" name="Picture 2" descr="PlantUML Diagram">
            <a:extLst>
              <a:ext uri="{FF2B5EF4-FFF2-40B4-BE49-F238E27FC236}">
                <a16:creationId xmlns:a16="http://schemas.microsoft.com/office/drawing/2014/main" id="{E3A978AE-D9FF-511F-0B2A-60C0674C48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0312" y="1232756"/>
            <a:ext cx="2523375" cy="491754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639169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Design</a:t>
            </a:r>
            <a:endParaRPr lang="en-IN" dirty="0">
              <a:latin typeface="+mj-lt"/>
            </a:endParaRPr>
          </a:p>
        </p:txBody>
      </p:sp>
      <p:sp>
        <p:nvSpPr>
          <p:cNvPr id="4" name="Rectangle 1">
            <a:extLst>
              <a:ext uri="{FF2B5EF4-FFF2-40B4-BE49-F238E27FC236}">
                <a16:creationId xmlns:a16="http://schemas.microsoft.com/office/drawing/2014/main" id="{C6078BF6-70A0-A471-CEC4-4D563130FF63}"/>
              </a:ext>
            </a:extLst>
          </p:cNvPr>
          <p:cNvSpPr>
            <a:spLocks noGrp="1" noChangeArrowheads="1"/>
          </p:cNvSpPr>
          <p:nvPr>
            <p:ph idx="1"/>
          </p:nvPr>
        </p:nvSpPr>
        <p:spPr bwMode="auto">
          <a:xfrm>
            <a:off x="187040" y="1289953"/>
            <a:ext cx="5533628"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ontserrat" pitchFamily="2" charset="0"/>
              </a:rPr>
              <a:t>Main Process:</a:t>
            </a:r>
            <a:endParaRPr kumimoji="0" lang="en-US" altLang="en-US" sz="16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Montserrat" pitchFamily="2" charset="0"/>
              </a:rPr>
              <a:t>Starts with reading recipient data and validating it.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Montserrat" pitchFamily="2" charset="0"/>
              </a:rPr>
              <a:t>If the data is valid, it uses the template to generate certificates and save them.</a:t>
            </a:r>
            <a:endParaRPr lang="en-US" altLang="en-US" sz="1600" dirty="0">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Montserrat" pitchFamily="2" charset="0"/>
              </a:rPr>
              <a:t>If errors occur during validation, they are logged.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ontserrat" pitchFamily="2" charset="0"/>
              </a:rPr>
              <a:t>Sub-Processes: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Montserrat" pitchFamily="2" charset="0"/>
              </a:rPr>
              <a:t>Reading Data:</a:t>
            </a:r>
            <a:r>
              <a:rPr kumimoji="0" lang="en-US" altLang="en-US" sz="1600" b="0" i="0" u="none" strike="noStrike" cap="none" normalizeH="0" baseline="0" dirty="0">
                <a:ln>
                  <a:noFill/>
                </a:ln>
                <a:solidFill>
                  <a:schemeClr val="tx1"/>
                </a:solidFill>
                <a:effectLst/>
                <a:latin typeface="Montserrat" pitchFamily="2" charset="0"/>
              </a:rPr>
              <a:t> Reads data from the Excel file row-by-row. If the file is missing, it logs an error.</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Montserrat" pitchFamily="2" charset="0"/>
              </a:rPr>
              <a:t>Generating Certificates:</a:t>
            </a:r>
            <a:r>
              <a:rPr kumimoji="0" lang="en-US" altLang="en-US" sz="1600" b="0" i="0" u="none" strike="noStrike" cap="none" normalizeH="0" baseline="0" dirty="0">
                <a:ln>
                  <a:noFill/>
                </a:ln>
                <a:solidFill>
                  <a:schemeClr val="tx1"/>
                </a:solidFill>
                <a:effectLst/>
                <a:latin typeface="Montserrat" pitchFamily="2" charset="0"/>
              </a:rPr>
              <a:t> Replaces placeholders in the template with dynamic content and saves the certificate. Logs an error if the template is missing.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ontserrat" pitchFamily="2" charset="0"/>
            </a:endParaRPr>
          </a:p>
        </p:txBody>
      </p:sp>
      <p:pic>
        <p:nvPicPr>
          <p:cNvPr id="7171" name="Picture 3" descr="PlantUML Diagram">
            <a:extLst>
              <a:ext uri="{FF2B5EF4-FFF2-40B4-BE49-F238E27FC236}">
                <a16:creationId xmlns:a16="http://schemas.microsoft.com/office/drawing/2014/main" id="{B669A131-C37A-756D-7422-FBA89D54C8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8104" y="1138436"/>
            <a:ext cx="3531286" cy="458112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023427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Helvetica" pitchFamily="2" charset="0"/>
              </a:rPr>
              <a:t>Implementation</a:t>
            </a:r>
            <a:endParaRPr lang="en-IN" dirty="0">
              <a:latin typeface="Helvetica" pitchFamily="2" charset="0"/>
            </a:endParaRPr>
          </a:p>
        </p:txBody>
      </p:sp>
      <p:sp>
        <p:nvSpPr>
          <p:cNvPr id="3" name="Content Placeholder 2"/>
          <p:cNvSpPr>
            <a:spLocks noGrp="1"/>
          </p:cNvSpPr>
          <p:nvPr>
            <p:ph idx="1"/>
          </p:nvPr>
        </p:nvSpPr>
        <p:spPr/>
        <p:txBody>
          <a:bodyPr/>
          <a:lstStyle/>
          <a:p>
            <a:r>
              <a:rPr lang="en-US" b="1" dirty="0">
                <a:latin typeface="Montserrat" pitchFamily="2" charset="0"/>
              </a:rPr>
              <a:t>CERTIFICATE TEMPLATE</a:t>
            </a:r>
          </a:p>
          <a:p>
            <a:pPr marL="457200" lvl="1" indent="0">
              <a:buNone/>
            </a:pPr>
            <a:endParaRPr lang="en-US" b="1" dirty="0">
              <a:latin typeface="Montserrat" pitchFamily="2" charset="0"/>
            </a:endParaRPr>
          </a:p>
          <a:p>
            <a:pPr marL="0" indent="0">
              <a:buNone/>
            </a:pPr>
            <a:endParaRPr lang="en-US" b="1" dirty="0">
              <a:latin typeface="Montserrat" pitchFamily="2" charset="0"/>
            </a:endParaRPr>
          </a:p>
        </p:txBody>
      </p:sp>
      <p:pic>
        <p:nvPicPr>
          <p:cNvPr id="5" name="Picture 4">
            <a:extLst>
              <a:ext uri="{FF2B5EF4-FFF2-40B4-BE49-F238E27FC236}">
                <a16:creationId xmlns:a16="http://schemas.microsoft.com/office/drawing/2014/main" id="{B0AD4127-155B-4EB6-8D96-80AD817E285C}"/>
              </a:ext>
            </a:extLst>
          </p:cNvPr>
          <p:cNvPicPr>
            <a:picLocks noChangeAspect="1"/>
          </p:cNvPicPr>
          <p:nvPr/>
        </p:nvPicPr>
        <p:blipFill>
          <a:blip r:embed="rId4"/>
          <a:stretch>
            <a:fillRect/>
          </a:stretch>
        </p:blipFill>
        <p:spPr>
          <a:xfrm>
            <a:off x="1013300" y="1844824"/>
            <a:ext cx="7117399" cy="3825602"/>
          </a:xfrm>
          <a:prstGeom prst="rect">
            <a:avLst/>
          </a:prstGeom>
        </p:spPr>
      </p:pic>
    </p:spTree>
    <p:custDataLst>
      <p:tags r:id="rId1"/>
    </p:custDataLst>
    <p:extLst>
      <p:ext uri="{BB962C8B-B14F-4D97-AF65-F5344CB8AC3E}">
        <p14:creationId xmlns:p14="http://schemas.microsoft.com/office/powerpoint/2010/main" val="1769472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47472-BC9A-4613-1DFB-39F57F9D9C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A1BDD5-169B-AF1F-2DDB-77BEEE47F895}"/>
              </a:ext>
            </a:extLst>
          </p:cNvPr>
          <p:cNvSpPr>
            <a:spLocks noGrp="1"/>
          </p:cNvSpPr>
          <p:nvPr>
            <p:ph type="title"/>
          </p:nvPr>
        </p:nvSpPr>
        <p:spPr/>
        <p:txBody>
          <a:bodyPr>
            <a:normAutofit/>
          </a:bodyPr>
          <a:lstStyle/>
          <a:p>
            <a:r>
              <a:rPr lang="en-US" dirty="0">
                <a:latin typeface="Helvetica" pitchFamily="2" charset="0"/>
              </a:rPr>
              <a:t>Implementation</a:t>
            </a:r>
            <a:endParaRPr lang="en-IN" dirty="0">
              <a:latin typeface="Helvetica" pitchFamily="2" charset="0"/>
            </a:endParaRPr>
          </a:p>
        </p:txBody>
      </p:sp>
      <p:sp>
        <p:nvSpPr>
          <p:cNvPr id="3" name="Content Placeholder 2">
            <a:extLst>
              <a:ext uri="{FF2B5EF4-FFF2-40B4-BE49-F238E27FC236}">
                <a16:creationId xmlns:a16="http://schemas.microsoft.com/office/drawing/2014/main" id="{F37AA18F-02C9-B913-835E-D8FCD8185F3F}"/>
              </a:ext>
            </a:extLst>
          </p:cNvPr>
          <p:cNvSpPr>
            <a:spLocks noGrp="1"/>
          </p:cNvSpPr>
          <p:nvPr>
            <p:ph idx="1"/>
          </p:nvPr>
        </p:nvSpPr>
        <p:spPr/>
        <p:txBody>
          <a:bodyPr/>
          <a:lstStyle/>
          <a:p>
            <a:r>
              <a:rPr lang="en-US" b="1" dirty="0">
                <a:latin typeface="Montserrat" pitchFamily="2" charset="0"/>
              </a:rPr>
              <a:t>EXCEL WITH NAME LIST</a:t>
            </a:r>
          </a:p>
        </p:txBody>
      </p:sp>
      <p:pic>
        <p:nvPicPr>
          <p:cNvPr id="6" name="Picture 5">
            <a:extLst>
              <a:ext uri="{FF2B5EF4-FFF2-40B4-BE49-F238E27FC236}">
                <a16:creationId xmlns:a16="http://schemas.microsoft.com/office/drawing/2014/main" id="{94836316-3043-F39E-95DE-8DE108782005}"/>
              </a:ext>
            </a:extLst>
          </p:cNvPr>
          <p:cNvPicPr>
            <a:picLocks noChangeAspect="1"/>
          </p:cNvPicPr>
          <p:nvPr/>
        </p:nvPicPr>
        <p:blipFill>
          <a:blip r:embed="rId4"/>
          <a:stretch>
            <a:fillRect/>
          </a:stretch>
        </p:blipFill>
        <p:spPr>
          <a:xfrm>
            <a:off x="1113776" y="1798805"/>
            <a:ext cx="6916447" cy="3717590"/>
          </a:xfrm>
          <a:prstGeom prst="rect">
            <a:avLst/>
          </a:prstGeom>
        </p:spPr>
      </p:pic>
    </p:spTree>
    <p:custDataLst>
      <p:tags r:id="rId1"/>
    </p:custDataLst>
    <p:extLst>
      <p:ext uri="{BB962C8B-B14F-4D97-AF65-F5344CB8AC3E}">
        <p14:creationId xmlns:p14="http://schemas.microsoft.com/office/powerpoint/2010/main" val="22948735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9346D-BE01-ADC0-F858-BE321A32FA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BD50B7-B82B-E7F6-5AB0-E759502FF032}"/>
              </a:ext>
            </a:extLst>
          </p:cNvPr>
          <p:cNvSpPr>
            <a:spLocks noGrp="1"/>
          </p:cNvSpPr>
          <p:nvPr>
            <p:ph type="title"/>
          </p:nvPr>
        </p:nvSpPr>
        <p:spPr/>
        <p:txBody>
          <a:bodyPr>
            <a:normAutofit/>
          </a:bodyPr>
          <a:lstStyle/>
          <a:p>
            <a:r>
              <a:rPr lang="en-US" dirty="0">
                <a:latin typeface="Helvetica" pitchFamily="2" charset="0"/>
              </a:rPr>
              <a:t>Implementation</a:t>
            </a:r>
            <a:endParaRPr lang="en-IN" dirty="0">
              <a:latin typeface="Helvetica" pitchFamily="2" charset="0"/>
            </a:endParaRPr>
          </a:p>
        </p:txBody>
      </p:sp>
      <p:sp>
        <p:nvSpPr>
          <p:cNvPr id="3" name="Content Placeholder 2">
            <a:extLst>
              <a:ext uri="{FF2B5EF4-FFF2-40B4-BE49-F238E27FC236}">
                <a16:creationId xmlns:a16="http://schemas.microsoft.com/office/drawing/2014/main" id="{B006FF79-0681-BB36-E5D8-ADA079402200}"/>
              </a:ext>
            </a:extLst>
          </p:cNvPr>
          <p:cNvSpPr>
            <a:spLocks noGrp="1"/>
          </p:cNvSpPr>
          <p:nvPr>
            <p:ph idx="1"/>
          </p:nvPr>
        </p:nvSpPr>
        <p:spPr/>
        <p:txBody>
          <a:bodyPr/>
          <a:lstStyle/>
          <a:p>
            <a:r>
              <a:rPr lang="en-US" b="1" dirty="0">
                <a:latin typeface="Montserrat" pitchFamily="2" charset="0"/>
              </a:rPr>
              <a:t>THE PREPARED CERTIFICATES</a:t>
            </a:r>
          </a:p>
        </p:txBody>
      </p:sp>
      <p:pic>
        <p:nvPicPr>
          <p:cNvPr id="5" name="Picture 4">
            <a:extLst>
              <a:ext uri="{FF2B5EF4-FFF2-40B4-BE49-F238E27FC236}">
                <a16:creationId xmlns:a16="http://schemas.microsoft.com/office/drawing/2014/main" id="{89DDFB2E-A42B-E4D2-9575-28A1B77E43DA}"/>
              </a:ext>
            </a:extLst>
          </p:cNvPr>
          <p:cNvPicPr>
            <a:picLocks noChangeAspect="1"/>
          </p:cNvPicPr>
          <p:nvPr/>
        </p:nvPicPr>
        <p:blipFill>
          <a:blip r:embed="rId4"/>
          <a:stretch>
            <a:fillRect/>
          </a:stretch>
        </p:blipFill>
        <p:spPr>
          <a:xfrm>
            <a:off x="1151620" y="2096852"/>
            <a:ext cx="6696236" cy="3599227"/>
          </a:xfrm>
          <a:prstGeom prst="rect">
            <a:avLst/>
          </a:prstGeom>
        </p:spPr>
      </p:pic>
    </p:spTree>
    <p:custDataLst>
      <p:tags r:id="rId1"/>
    </p:custDataLst>
    <p:extLst>
      <p:ext uri="{BB962C8B-B14F-4D97-AF65-F5344CB8AC3E}">
        <p14:creationId xmlns:p14="http://schemas.microsoft.com/office/powerpoint/2010/main" val="3499031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Helvetica" pitchFamily="2" charset="0"/>
              </a:rPr>
              <a:t>Conclusions</a:t>
            </a:r>
            <a:endParaRPr lang="en-IN" dirty="0">
              <a:latin typeface="Helvetica" pitchFamily="2" charset="0"/>
            </a:endParaRPr>
          </a:p>
        </p:txBody>
      </p:sp>
      <p:sp>
        <p:nvSpPr>
          <p:cNvPr id="3" name="Content Placeholder 2"/>
          <p:cNvSpPr>
            <a:spLocks noGrp="1"/>
          </p:cNvSpPr>
          <p:nvPr>
            <p:ph idx="1"/>
          </p:nvPr>
        </p:nvSpPr>
        <p:spPr>
          <a:xfrm>
            <a:off x="190500" y="1075674"/>
            <a:ext cx="8763000" cy="4706652"/>
          </a:xfrm>
        </p:spPr>
        <p:txBody>
          <a:bodyPr>
            <a:normAutofit/>
          </a:bodyPr>
          <a:lstStyle/>
          <a:p>
            <a:pPr marL="0" indent="0">
              <a:buNone/>
            </a:pPr>
            <a:r>
              <a:rPr lang="en-US" sz="2000" dirty="0">
                <a:latin typeface="Montserrat" pitchFamily="2" charset="0"/>
              </a:rPr>
              <a:t>The </a:t>
            </a:r>
            <a:r>
              <a:rPr lang="en-US" sz="2000" b="1" dirty="0">
                <a:latin typeface="Montserrat" pitchFamily="2" charset="0"/>
              </a:rPr>
              <a:t>Automatic E-Certificate Generation Bot</a:t>
            </a:r>
            <a:r>
              <a:rPr lang="en-US" sz="2000" dirty="0">
                <a:latin typeface="Montserrat" pitchFamily="2" charset="0"/>
              </a:rPr>
              <a:t> streamlines and automates the process of generating personalized e-certificates, offering:</a:t>
            </a:r>
          </a:p>
          <a:p>
            <a:pPr marL="0" indent="0">
              <a:buNone/>
            </a:pPr>
            <a:endParaRPr lang="en-US" sz="2000" dirty="0">
              <a:latin typeface="Montserrat" pitchFamily="2" charset="0"/>
            </a:endParaRPr>
          </a:p>
          <a:p>
            <a:pPr marL="0" indent="0">
              <a:buNone/>
            </a:pPr>
            <a:r>
              <a:rPr lang="en-US" sz="2000" b="1" dirty="0">
                <a:latin typeface="Montserrat" pitchFamily="2" charset="0"/>
              </a:rPr>
              <a:t>Efficiency:</a:t>
            </a:r>
            <a:r>
              <a:rPr lang="en-US" sz="2000" dirty="0">
                <a:latin typeface="Montserrat" pitchFamily="2" charset="0"/>
              </a:rPr>
              <a:t> Rapid and error-free certificate creation.</a:t>
            </a:r>
          </a:p>
          <a:p>
            <a:pPr marL="0" indent="0">
              <a:buNone/>
            </a:pPr>
            <a:r>
              <a:rPr lang="en-US" sz="2000" b="1" dirty="0">
                <a:latin typeface="Montserrat" pitchFamily="2" charset="0"/>
              </a:rPr>
              <a:t>Scalability:</a:t>
            </a:r>
            <a:r>
              <a:rPr lang="en-US" sz="2000" dirty="0">
                <a:latin typeface="Montserrat" pitchFamily="2" charset="0"/>
              </a:rPr>
              <a:t> Handles large datasets with ease.</a:t>
            </a:r>
          </a:p>
          <a:p>
            <a:pPr marL="0" indent="0">
              <a:buNone/>
            </a:pPr>
            <a:r>
              <a:rPr lang="en-US" sz="2000" b="1" dirty="0">
                <a:latin typeface="Montserrat" pitchFamily="2" charset="0"/>
              </a:rPr>
              <a:t>Consistency:</a:t>
            </a:r>
            <a:r>
              <a:rPr lang="en-US" sz="2000" dirty="0">
                <a:latin typeface="Montserrat" pitchFamily="2" charset="0"/>
              </a:rPr>
              <a:t> Ensures uniform formatting across certificates.</a:t>
            </a:r>
          </a:p>
          <a:p>
            <a:pPr marL="0" indent="0">
              <a:buNone/>
            </a:pPr>
            <a:r>
              <a:rPr lang="en-US" sz="2000" b="1" dirty="0">
                <a:latin typeface="Montserrat" pitchFamily="2" charset="0"/>
              </a:rPr>
              <a:t>Versatility:</a:t>
            </a:r>
            <a:r>
              <a:rPr lang="en-US" sz="2000" dirty="0">
                <a:latin typeface="Montserrat" pitchFamily="2" charset="0"/>
              </a:rPr>
              <a:t> Adapts to various events and use cases.</a:t>
            </a:r>
          </a:p>
          <a:p>
            <a:pPr marL="0" indent="0">
              <a:buNone/>
            </a:pPr>
            <a:endParaRPr lang="en-US" sz="2000" dirty="0">
              <a:latin typeface="Montserrat" pitchFamily="2" charset="0"/>
            </a:endParaRPr>
          </a:p>
          <a:p>
            <a:pPr marL="0" indent="0">
              <a:buNone/>
            </a:pPr>
            <a:r>
              <a:rPr lang="en-US" sz="2000" dirty="0">
                <a:latin typeface="Montserrat" pitchFamily="2" charset="0"/>
              </a:rPr>
              <a:t>By leveraging UiPath RPA, the project eliminates manual effort, reduces errors, and enhances productivity, making it a reliable solution for large-scale certificate management.</a:t>
            </a:r>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Helvetica" pitchFamily="2" charset="0"/>
              </a:rPr>
              <a:t>Future Enhancement</a:t>
            </a:r>
            <a:endParaRPr lang="en-IN" dirty="0">
              <a:latin typeface="Helvetica" pitchFamily="2" charset="0"/>
            </a:endParaRPr>
          </a:p>
        </p:txBody>
      </p:sp>
      <p:sp>
        <p:nvSpPr>
          <p:cNvPr id="4" name="Rectangle 1">
            <a:extLst>
              <a:ext uri="{FF2B5EF4-FFF2-40B4-BE49-F238E27FC236}">
                <a16:creationId xmlns:a16="http://schemas.microsoft.com/office/drawing/2014/main" id="{E532638C-1FC6-A4F4-C15E-90A051B33A65}"/>
              </a:ext>
            </a:extLst>
          </p:cNvPr>
          <p:cNvSpPr>
            <a:spLocks noChangeArrowheads="1"/>
          </p:cNvSpPr>
          <p:nvPr/>
        </p:nvSpPr>
        <p:spPr bwMode="auto">
          <a:xfrm>
            <a:off x="190500" y="1196752"/>
            <a:ext cx="9071992"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ontserrat" pitchFamily="2" charset="0"/>
              </a:rPr>
              <a:t>Database Integration:</a:t>
            </a: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Montserrat" pitchFamily="2" charset="0"/>
              </a:rPr>
              <a:t> </a:t>
            </a:r>
            <a:r>
              <a:rPr kumimoji="0" lang="en-US" altLang="en-US" sz="1800" b="0" i="0" u="none" strike="noStrike" cap="none" normalizeH="0" baseline="0" dirty="0">
                <a:ln>
                  <a:noFill/>
                </a:ln>
                <a:solidFill>
                  <a:schemeClr val="tx1"/>
                </a:solidFill>
                <a:effectLst/>
                <a:latin typeface="Montserrat" pitchFamily="2" charset="0"/>
              </a:rPr>
              <a:t>Fetch recipient data dynamically from a database for real-time processing.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ontserrat" pitchFamily="2" charset="0"/>
              </a:rPr>
              <a:t>Email Automation:</a:t>
            </a: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Montserrat" pitchFamily="2" charset="0"/>
              </a:rPr>
              <a:t> Automatically email certificates to recipients after generation.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ontserrat" pitchFamily="2" charset="0"/>
              </a:rPr>
              <a:t>AI Design Suggestions:</a:t>
            </a: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Montserrat" pitchFamily="2" charset="0"/>
              </a:rPr>
              <a:t> Integrate AI to recommend certificate designs based on event type.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ontserrat" pitchFamily="2" charset="0"/>
              </a:rPr>
              <a:t>Cloud Integration:</a:t>
            </a: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Montserrat" pitchFamily="2" charset="0"/>
              </a:rPr>
              <a:t> Save and share certificates via platforms like Google Drive or OneDrive.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ontserrat" pitchFamily="2" charset="0"/>
              </a:rPr>
              <a:t>Multi-Language Support:</a:t>
            </a: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Montserrat" pitchFamily="2" charset="0"/>
              </a:rPr>
              <a:t> Generate certificates in multiple languages for global events.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ontserrat" pitchFamily="2" charset="0"/>
              </a:rPr>
              <a:t>Mobile App Integration:</a:t>
            </a: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Montserrat" pitchFamily="2" charset="0"/>
              </a:rPr>
              <a:t> Enable certificate downloads through a dedicated app.</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ontserrat" pitchFamily="2" charset="0"/>
            </a:endParaRPr>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Helvetica" pitchFamily="2" charset="0"/>
              </a:rPr>
              <a:t>IEEE Paper</a:t>
            </a:r>
            <a:endParaRPr lang="en-IN" dirty="0">
              <a:latin typeface="Helvetica" pitchFamily="2" charset="0"/>
            </a:endParaRPr>
          </a:p>
        </p:txBody>
      </p:sp>
      <p:sp>
        <p:nvSpPr>
          <p:cNvPr id="4" name="Rectangle 1">
            <a:extLst>
              <a:ext uri="{FF2B5EF4-FFF2-40B4-BE49-F238E27FC236}">
                <a16:creationId xmlns:a16="http://schemas.microsoft.com/office/drawing/2014/main" id="{EE1F8BCC-973F-E84D-2472-232C59F4228E}"/>
              </a:ext>
            </a:extLst>
          </p:cNvPr>
          <p:cNvSpPr>
            <a:spLocks noGrp="1" noChangeArrowheads="1"/>
          </p:cNvSpPr>
          <p:nvPr>
            <p:ph idx="1"/>
          </p:nvPr>
        </p:nvSpPr>
        <p:spPr bwMode="auto">
          <a:xfrm>
            <a:off x="287524" y="1088740"/>
            <a:ext cx="8316924"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ontserrat" pitchFamily="2" charset="0"/>
              </a:rPr>
              <a:t>Enhancing Workflow Automation Using RPA: A Case Study</a:t>
            </a:r>
            <a:br>
              <a:rPr kumimoji="0" lang="en-US" altLang="en-US" sz="1600" b="0" i="0" u="none" strike="noStrike" cap="none" normalizeH="0" baseline="0" dirty="0">
                <a:ln>
                  <a:noFill/>
                </a:ln>
                <a:solidFill>
                  <a:schemeClr val="tx1"/>
                </a:solidFill>
                <a:effectLst/>
                <a:latin typeface="Montserrat" pitchFamily="2" charset="0"/>
              </a:rPr>
            </a:br>
            <a:r>
              <a:rPr kumimoji="0" lang="en-US" altLang="en-US" sz="1600" b="0" i="0" u="none" strike="noStrike" cap="none" normalizeH="0" baseline="0" dirty="0">
                <a:ln>
                  <a:noFill/>
                </a:ln>
                <a:solidFill>
                  <a:schemeClr val="tx1"/>
                </a:solidFill>
                <a:effectLst/>
                <a:latin typeface="Montserrat" pitchFamily="2" charset="0"/>
              </a:rPr>
              <a:t>This paper discusses the application of </a:t>
            </a:r>
            <a:r>
              <a:rPr kumimoji="0" lang="en-US" altLang="en-US" sz="1600" b="1" i="0" u="none" strike="noStrike" cap="none" normalizeH="0" baseline="0" dirty="0">
                <a:ln>
                  <a:noFill/>
                </a:ln>
                <a:solidFill>
                  <a:schemeClr val="tx1"/>
                </a:solidFill>
                <a:effectLst/>
                <a:latin typeface="Montserrat" pitchFamily="2" charset="0"/>
              </a:rPr>
              <a:t>Robotic Process Automation (RPA)</a:t>
            </a:r>
            <a:r>
              <a:rPr kumimoji="0" lang="en-US" altLang="en-US" sz="1600" b="0" i="0" u="none" strike="noStrike" cap="none" normalizeH="0" baseline="0" dirty="0">
                <a:ln>
                  <a:noFill/>
                </a:ln>
                <a:solidFill>
                  <a:schemeClr val="tx1"/>
                </a:solidFill>
                <a:effectLst/>
                <a:latin typeface="Montserrat" pitchFamily="2" charset="0"/>
              </a:rPr>
              <a:t> to improve efficiency by automating repetitive tasks. It emphasizes scaling RPA solutions across different processes, which is directly related to automating the certificate generation process in your project​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ontserrat" pitchFamily="2"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ontserrat" pitchFamily="2" charset="0"/>
              </a:rPr>
              <a:t>Intelligent Process Automation: Bridging Legacy and Modern Systems</a:t>
            </a:r>
            <a:br>
              <a:rPr kumimoji="0" lang="en-US" altLang="en-US" sz="1600" b="0" i="0" u="none" strike="noStrike" cap="none" normalizeH="0" baseline="0" dirty="0">
                <a:ln>
                  <a:noFill/>
                </a:ln>
                <a:solidFill>
                  <a:schemeClr val="tx1"/>
                </a:solidFill>
                <a:effectLst/>
                <a:latin typeface="Montserrat" pitchFamily="2" charset="0"/>
              </a:rPr>
            </a:br>
            <a:r>
              <a:rPr kumimoji="0" lang="en-US" altLang="en-US" sz="1600" b="0" i="0" u="none" strike="noStrike" cap="none" normalizeH="0" baseline="0" dirty="0">
                <a:ln>
                  <a:noFill/>
                </a:ln>
                <a:solidFill>
                  <a:schemeClr val="tx1"/>
                </a:solidFill>
                <a:effectLst/>
                <a:latin typeface="Montserrat" pitchFamily="2" charset="0"/>
              </a:rPr>
              <a:t>This paper highlights how </a:t>
            </a:r>
            <a:r>
              <a:rPr kumimoji="0" lang="en-US" altLang="en-US" sz="1600" b="1" i="0" u="none" strike="noStrike" cap="none" normalizeH="0" baseline="0" dirty="0">
                <a:ln>
                  <a:noFill/>
                </a:ln>
                <a:solidFill>
                  <a:schemeClr val="tx1"/>
                </a:solidFill>
                <a:effectLst/>
                <a:latin typeface="Montserrat" pitchFamily="2" charset="0"/>
              </a:rPr>
              <a:t>RPA tools</a:t>
            </a:r>
            <a:r>
              <a:rPr kumimoji="0" lang="en-US" altLang="en-US" sz="1600" b="0" i="0" u="none" strike="noStrike" cap="none" normalizeH="0" baseline="0" dirty="0">
                <a:ln>
                  <a:noFill/>
                </a:ln>
                <a:solidFill>
                  <a:schemeClr val="tx1"/>
                </a:solidFill>
                <a:effectLst/>
                <a:latin typeface="Montserrat" pitchFamily="2" charset="0"/>
              </a:rPr>
              <a:t> can integrate with legacy systems and modern applications, offering a path to automating workflows that interact with various technologies like Microsoft Office. This would be beneficial for automating document generation (PowerPoint templates) and ensuring seamless workflows in your project​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ontserrat" pitchFamily="2"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ontserrat" pitchFamily="2" charset="0"/>
              </a:rPr>
              <a:t>AI-Augmented Document Automation for Streamlined Business Processes</a:t>
            </a:r>
            <a:br>
              <a:rPr kumimoji="0" lang="en-US" altLang="en-US" sz="1600" b="0" i="0" u="none" strike="noStrike" cap="none" normalizeH="0" baseline="0" dirty="0">
                <a:ln>
                  <a:noFill/>
                </a:ln>
                <a:solidFill>
                  <a:schemeClr val="tx1"/>
                </a:solidFill>
                <a:effectLst/>
                <a:latin typeface="Montserrat" pitchFamily="2" charset="0"/>
              </a:rPr>
            </a:br>
            <a:r>
              <a:rPr kumimoji="0" lang="en-US" altLang="en-US" sz="1600" b="0" i="0" u="none" strike="noStrike" cap="none" normalizeH="0" baseline="0" dirty="0">
                <a:ln>
                  <a:noFill/>
                </a:ln>
                <a:solidFill>
                  <a:schemeClr val="tx1"/>
                </a:solidFill>
                <a:effectLst/>
                <a:latin typeface="Montserrat" pitchFamily="2" charset="0"/>
              </a:rPr>
              <a:t>This research focuses on using </a:t>
            </a:r>
            <a:r>
              <a:rPr kumimoji="0" lang="en-US" altLang="en-US" sz="1600" b="1" i="0" u="none" strike="noStrike" cap="none" normalizeH="0" baseline="0" dirty="0">
                <a:ln>
                  <a:noFill/>
                </a:ln>
                <a:solidFill>
                  <a:schemeClr val="tx1"/>
                </a:solidFill>
                <a:effectLst/>
                <a:latin typeface="Montserrat" pitchFamily="2" charset="0"/>
              </a:rPr>
              <a:t>AI with RPA</a:t>
            </a:r>
            <a:r>
              <a:rPr kumimoji="0" lang="en-US" altLang="en-US" sz="1600" b="0" i="0" u="none" strike="noStrike" cap="none" normalizeH="0" baseline="0" dirty="0">
                <a:ln>
                  <a:noFill/>
                </a:ln>
                <a:solidFill>
                  <a:schemeClr val="tx1"/>
                </a:solidFill>
                <a:effectLst/>
                <a:latin typeface="Montserrat" pitchFamily="2" charset="0"/>
              </a:rPr>
              <a:t> to process documents more intelligently, automating not just the tasks but also adapting the workflows based on document content. For your certificate generation bot, leveraging AI to suggest or adapt certificate designs dynamically could add a layer of flexibility and enhancement​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ontserrat" pitchFamily="2" charset="0"/>
              </a:rPr>
              <a:t>.</a:t>
            </a:r>
          </a:p>
        </p:txBody>
      </p:sp>
    </p:spTree>
    <p:custDataLst>
      <p:tags r:id="rId1"/>
    </p:custDataLst>
    <p:extLst>
      <p:ext uri="{BB962C8B-B14F-4D97-AF65-F5344CB8AC3E}">
        <p14:creationId xmlns:p14="http://schemas.microsoft.com/office/powerpoint/2010/main" val="3277262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4" name="Rectangle 1">
            <a:extLst>
              <a:ext uri="{FF2B5EF4-FFF2-40B4-BE49-F238E27FC236}">
                <a16:creationId xmlns:a16="http://schemas.microsoft.com/office/drawing/2014/main" id="{A6C80627-3AAC-4F5D-48E4-4F884616663E}"/>
              </a:ext>
            </a:extLst>
          </p:cNvPr>
          <p:cNvSpPr>
            <a:spLocks noGrp="1" noChangeArrowheads="1"/>
          </p:cNvSpPr>
          <p:nvPr>
            <p:ph idx="1"/>
          </p:nvPr>
        </p:nvSpPr>
        <p:spPr bwMode="auto">
          <a:xfrm>
            <a:off x="190500" y="979946"/>
            <a:ext cx="8629972"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ontserrat" pitchFamily="2" charset="0"/>
              </a:rPr>
              <a:t>UiPath Documentation:</a:t>
            </a: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ontserrat" pitchFamily="2" charset="0"/>
              </a:rPr>
              <a:t>Official guide for building RPA workflows.</a:t>
            </a:r>
            <a:br>
              <a:rPr kumimoji="0" lang="en-US" altLang="en-US" sz="1800" b="0" i="0" u="none" strike="noStrike" cap="none" normalizeH="0" baseline="0" dirty="0">
                <a:ln>
                  <a:noFill/>
                </a:ln>
                <a:solidFill>
                  <a:schemeClr val="tx1"/>
                </a:solidFill>
                <a:effectLst/>
                <a:latin typeface="Montserrat" pitchFamily="2" charset="0"/>
              </a:rPr>
            </a:br>
            <a:r>
              <a:rPr kumimoji="0" lang="en-US" altLang="en-US" sz="1800" b="0" i="0" u="none" strike="noStrike" cap="none" normalizeH="0" baseline="0" dirty="0">
                <a:ln>
                  <a:noFill/>
                </a:ln>
                <a:solidFill>
                  <a:schemeClr val="tx1"/>
                </a:solidFill>
                <a:effectLst/>
                <a:latin typeface="Montserrat" pitchFamily="2" charset="0"/>
              </a:rPr>
              <a:t>(</a:t>
            </a:r>
            <a:r>
              <a:rPr kumimoji="0" lang="en-US" altLang="en-US" sz="1800" b="0" i="0" u="none" strike="noStrike" cap="none" normalizeH="0" baseline="0" dirty="0">
                <a:ln>
                  <a:noFill/>
                </a:ln>
                <a:solidFill>
                  <a:schemeClr val="tx1"/>
                </a:solidFill>
                <a:effectLst/>
                <a:latin typeface="Montserrat" pitchFamily="2" charset="0"/>
                <a:hlinkClick r:id="rId4"/>
              </a:rPr>
              <a:t>uipath.com</a:t>
            </a:r>
            <a:r>
              <a:rPr kumimoji="0" lang="en-US" altLang="en-US" sz="1800" b="0" i="0" u="none" strike="noStrike" cap="none" normalizeH="0" baseline="0" dirty="0">
                <a:ln>
                  <a:noFill/>
                </a:ln>
                <a:solidFill>
                  <a:schemeClr val="tx1"/>
                </a:solidFill>
                <a:effectLst/>
                <a:latin typeface="Montserrat" pitchFamily="2"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ontserrat" pitchFamily="2" charset="0"/>
              </a:rPr>
              <a:t>Microsoft Office Suite:</a:t>
            </a: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ontserrat" pitchFamily="2" charset="0"/>
              </a:rPr>
              <a:t>PowerPoint and Excel integration for dynamic certificate creation.</a:t>
            </a:r>
            <a:br>
              <a:rPr kumimoji="0" lang="en-US" altLang="en-US" sz="1800" b="0" i="0" u="none" strike="noStrike" cap="none" normalizeH="0" baseline="0" dirty="0">
                <a:ln>
                  <a:noFill/>
                </a:ln>
                <a:solidFill>
                  <a:schemeClr val="tx1"/>
                </a:solidFill>
                <a:effectLst/>
                <a:latin typeface="Montserrat" pitchFamily="2" charset="0"/>
              </a:rPr>
            </a:br>
            <a:r>
              <a:rPr kumimoji="0" lang="en-US" altLang="en-US" sz="1800" b="0" i="0" u="none" strike="noStrike" cap="none" normalizeH="0" baseline="0" dirty="0">
                <a:ln>
                  <a:noFill/>
                </a:ln>
                <a:solidFill>
                  <a:schemeClr val="tx1"/>
                </a:solidFill>
                <a:effectLst/>
                <a:latin typeface="Montserrat" pitchFamily="2" charset="0"/>
              </a:rPr>
              <a:t>(</a:t>
            </a:r>
            <a:r>
              <a:rPr kumimoji="0" lang="en-US" altLang="en-US" sz="1800" b="0" i="0" u="none" strike="noStrike" cap="none" normalizeH="0" baseline="0" dirty="0">
                <a:ln>
                  <a:noFill/>
                </a:ln>
                <a:solidFill>
                  <a:schemeClr val="tx1"/>
                </a:solidFill>
                <a:effectLst/>
                <a:latin typeface="Montserrat" pitchFamily="2" charset="0"/>
                <a:hlinkClick r:id="rId5"/>
              </a:rPr>
              <a:t>microsoft.com</a:t>
            </a:r>
            <a:r>
              <a:rPr kumimoji="0" lang="en-US" altLang="en-US" sz="1800" b="0" i="0" u="none" strike="noStrike" cap="none" normalizeH="0" baseline="0" dirty="0">
                <a:ln>
                  <a:noFill/>
                </a:ln>
                <a:solidFill>
                  <a:schemeClr val="tx1"/>
                </a:solidFill>
                <a:effectLst/>
                <a:latin typeface="Montserrat" pitchFamily="2"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Montserrat" pitchFamily="2" charset="0"/>
              </a:rPr>
              <a:t>PlantUML</a:t>
            </a:r>
            <a:r>
              <a:rPr kumimoji="0" lang="en-US" altLang="en-US" sz="1800" b="1" i="0" u="none" strike="noStrike" cap="none" normalizeH="0" baseline="0" dirty="0">
                <a:ln>
                  <a:noFill/>
                </a:ln>
                <a:solidFill>
                  <a:schemeClr val="tx1"/>
                </a:solidFill>
                <a:effectLst/>
                <a:latin typeface="Montserrat" pitchFamily="2" charset="0"/>
              </a:rPr>
              <a:t> Documentation:</a:t>
            </a: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ontserrat" pitchFamily="2" charset="0"/>
              </a:rPr>
              <a:t>For diagram generation and process modeling.</a:t>
            </a:r>
            <a:br>
              <a:rPr kumimoji="0" lang="en-US" altLang="en-US" sz="1800" b="0" i="0" u="none" strike="noStrike" cap="none" normalizeH="0" baseline="0" dirty="0">
                <a:ln>
                  <a:noFill/>
                </a:ln>
                <a:solidFill>
                  <a:schemeClr val="tx1"/>
                </a:solidFill>
                <a:effectLst/>
                <a:latin typeface="Montserrat" pitchFamily="2" charset="0"/>
              </a:rPr>
            </a:br>
            <a:r>
              <a:rPr kumimoji="0" lang="en-US" altLang="en-US" sz="1800" b="0" i="0" u="none" strike="noStrike" cap="none" normalizeH="0" baseline="0" dirty="0">
                <a:ln>
                  <a:noFill/>
                </a:ln>
                <a:solidFill>
                  <a:schemeClr val="tx1"/>
                </a:solidFill>
                <a:effectLst/>
                <a:latin typeface="Montserrat" pitchFamily="2" charset="0"/>
              </a:rPr>
              <a:t>(</a:t>
            </a:r>
            <a:r>
              <a:rPr kumimoji="0" lang="en-US" altLang="en-US" sz="1800" b="0" i="0" u="none" strike="noStrike" cap="none" normalizeH="0" baseline="0" dirty="0">
                <a:ln>
                  <a:noFill/>
                </a:ln>
                <a:solidFill>
                  <a:schemeClr val="tx1"/>
                </a:solidFill>
                <a:effectLst/>
                <a:latin typeface="Montserrat" pitchFamily="2" charset="0"/>
                <a:hlinkClick r:id="rId6"/>
              </a:rPr>
              <a:t>plantuml.com</a:t>
            </a:r>
            <a:r>
              <a:rPr kumimoji="0" lang="en-US" altLang="en-US" sz="1800" b="0" i="0" u="none" strike="noStrike" cap="none" normalizeH="0" baseline="0" dirty="0">
                <a:ln>
                  <a:noFill/>
                </a:ln>
                <a:solidFill>
                  <a:schemeClr val="tx1"/>
                </a:solidFill>
                <a:effectLst/>
                <a:latin typeface="Montserrat" pitchFamily="2"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ontserrat" pitchFamily="2" charset="0"/>
              </a:rPr>
              <a:t>RPA Blogs and Tutorials:</a:t>
            </a: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ontserrat" pitchFamily="2" charset="0"/>
              </a:rPr>
              <a:t>Insights into automating repetitive tasks and error handling.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ontserrat" pitchFamily="2" charset="0"/>
              </a:rPr>
              <a:t>Online Forums:</a:t>
            </a:r>
            <a:endParaRPr kumimoji="0" lang="en-US" altLang="en-US" sz="1800" b="0" i="0" u="none" strike="noStrike" cap="none" normalizeH="0" baseline="0" dirty="0">
              <a:ln>
                <a:noFill/>
              </a:ln>
              <a:solidFill>
                <a:schemeClr val="tx1"/>
              </a:solidFill>
              <a:effectLst/>
              <a:latin typeface="Montserrat"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ontserrat" pitchFamily="2" charset="0"/>
              </a:rPr>
              <a:t>Discussion platforms like Stack Overflow for resolving automation challenges.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ontserrat" pitchFamily="2" charset="0"/>
            </a:endParaRPr>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324432" y="2321005"/>
            <a:ext cx="4495141"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latin typeface="Helvetica" pitchFamily="2" charset="0"/>
              </a:rPr>
              <a:t>Queries</a:t>
            </a:r>
          </a:p>
        </p:txBody>
      </p:sp>
    </p:spTree>
    <p:extLst>
      <p:ext uri="{BB962C8B-B14F-4D97-AF65-F5344CB8AC3E}">
        <p14:creationId xmlns:p14="http://schemas.microsoft.com/office/powerpoint/2010/main" val="21918022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76975" y="2321005"/>
            <a:ext cx="8190064"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latin typeface="Helvetica" pitchFamily="2" charset="0"/>
              </a:rPr>
              <a:t>Demonstration</a:t>
            </a:r>
          </a:p>
        </p:txBody>
      </p:sp>
    </p:spTree>
    <p:extLst>
      <p:ext uri="{BB962C8B-B14F-4D97-AF65-F5344CB8AC3E}">
        <p14:creationId xmlns:p14="http://schemas.microsoft.com/office/powerpoint/2010/main" val="26063687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ags/tag16.xml><?xml version="1.0" encoding="utf-8"?>
<p:tagLst xmlns:a="http://schemas.openxmlformats.org/drawingml/2006/main" xmlns:r="http://schemas.openxmlformats.org/officeDocument/2006/relationships" xmlns:p="http://schemas.openxmlformats.org/presentationml/2006/main">
  <p:tag name="TIMING" val="|1.1|4|2.4|1.4"/>
</p:tagLst>
</file>

<file path=ppt/tags/tag17.xml><?xml version="1.0" encoding="utf-8"?>
<p:tagLst xmlns:a="http://schemas.openxmlformats.org/drawingml/2006/main" xmlns:r="http://schemas.openxmlformats.org/officeDocument/2006/relationships" xmlns:p="http://schemas.openxmlformats.org/presentationml/2006/main">
  <p:tag name="TIMING" val="|1.1|4|2.4|1.4"/>
</p:tagLst>
</file>

<file path=ppt/tags/tag18.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9234</TotalTime>
  <Words>1419</Words>
  <Application>Microsoft Office PowerPoint</Application>
  <PresentationFormat>On-screen Show (4:3)</PresentationFormat>
  <Paragraphs>189</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Helvetica</vt:lpstr>
      <vt:lpstr>Montserrat</vt:lpstr>
      <vt:lpstr>Open Sans Extrabold</vt:lpstr>
      <vt:lpstr>Open Sans Light</vt:lpstr>
      <vt:lpstr>Wingdings</vt:lpstr>
      <vt:lpstr>Office Theme</vt:lpstr>
      <vt:lpstr>PowerPoint Presentation</vt:lpstr>
      <vt:lpstr>Abstract</vt:lpstr>
      <vt:lpstr>Need for the Proposed System</vt:lpstr>
      <vt:lpstr>Advantages of the Proposed System</vt:lpstr>
      <vt:lpstr>Literature Survey</vt:lpstr>
      <vt:lpstr>Main Objective</vt:lpstr>
      <vt:lpstr>Architecture</vt:lpstr>
      <vt:lpstr>System Requirements</vt:lpstr>
      <vt:lpstr>System Requirements</vt:lpstr>
      <vt:lpstr>Functional Description</vt:lpstr>
      <vt:lpstr>Table Design</vt:lpstr>
      <vt:lpstr>Process Design</vt:lpstr>
      <vt:lpstr>Implementation</vt:lpstr>
      <vt:lpstr>Implementation</vt:lpstr>
      <vt:lpstr>Implementation</vt:lpstr>
      <vt:lpstr>Conclusions</vt:lpstr>
      <vt:lpstr>Future Enhancement</vt:lpstr>
      <vt:lpstr>IEEE Paper</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Anand S</cp:lastModifiedBy>
  <cp:revision>1745</cp:revision>
  <dcterms:created xsi:type="dcterms:W3CDTF">2013-05-17T03:00:03Z</dcterms:created>
  <dcterms:modified xsi:type="dcterms:W3CDTF">2024-11-22T05:13:43Z</dcterms:modified>
</cp:coreProperties>
</file>